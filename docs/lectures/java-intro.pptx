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deck introduces Java using W3Schools as the reference point. Encourage students to follow the tutorial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 students to W3Schools Java Introduction and Get Started pages. Assign Hello World as first hands-on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0" y="914400"/>
            <a:ext cx="3474720" cy="5029200"/>
          </a:xfrm>
          <a:prstGeom prst="round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0" y="1371600"/>
            <a:ext cx="2560320" cy="4114800"/>
          </a:xfrm>
          <a:prstGeom prst="roundRect">
            <a:avLst/>
          </a:prstGeom>
          <a:solidFill>
            <a:srgbClr val="03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9FE2B3"/>
                </a:solidFill>
                <a:latin typeface="Poppins"/>
              </a:defRPr>
            </a:pPr>
            <a:r>
              <a:t>PROGRAMMING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132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Poppins"/>
              </a:defRPr>
            </a:pPr>
            <a:r>
              <a:t>Introduction to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6858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  <a:latin typeface="Lato"/>
              </a:defRPr>
            </a:pPr>
            <a:r>
              <a:t>A beginner-friendly overview based on the W3Schools Java tutorial.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Lato"/>
              </a:defRPr>
            </a:pPr>
            <a:r>
              <a:t>w3schools.com/java/java_intro.asp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4AA6D"/>
                </a:solidFill>
                <a:latin typeface="Poppins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282A35"/>
                </a:solidFill>
                <a:latin typeface="Poppins"/>
              </a:defRPr>
            </a:pPr>
            <a:r>
              <a:t>What is Java?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67665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6217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Lato"/>
              </a:defRPr>
            </a:pPr>
            <a:r>
              <a:t>Java is a popular and powerful programming language, created in 1995. It is owned by Oracle, and more than 3 billion devices run Java worldwide.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737360"/>
            <a:ext cx="1920240" cy="1645920"/>
          </a:xfrm>
          <a:prstGeom prst="roundRect">
            <a:avLst/>
          </a:prstGeom>
          <a:solidFill>
            <a:srgbClr val="28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2057400"/>
            <a:ext cx="1645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9FE2B3"/>
                </a:solidFill>
                <a:latin typeface="Poppins"/>
              </a:defRPr>
            </a:pPr>
            <a:r>
              <a:t>1995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6974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F8FAFC"/>
                </a:solidFill>
                <a:latin typeface="Lato"/>
              </a:defRPr>
            </a:pPr>
            <a:r>
              <a:t>Language created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1737360"/>
            <a:ext cx="1920240" cy="1645920"/>
          </a:xfrm>
          <a:prstGeom prst="roundRect">
            <a:avLst/>
          </a:prstGeom>
          <a:solidFill>
            <a:srgbClr val="28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21240" y="2057400"/>
            <a:ext cx="1645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9FE2B3"/>
                </a:solidFill>
                <a:latin typeface="Poppins"/>
              </a:defRPr>
            </a:pPr>
            <a:r>
              <a:t>3B+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26974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F8FAFC"/>
                </a:solidFill>
                <a:latin typeface="Lato"/>
              </a:defRPr>
            </a:pPr>
            <a:r>
              <a:t>Devices run Java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3840480"/>
            <a:ext cx="1920240" cy="1645920"/>
          </a:xfrm>
          <a:prstGeom prst="roundRect">
            <a:avLst/>
          </a:prstGeom>
          <a:solidFill>
            <a:srgbClr val="28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4160520"/>
            <a:ext cx="1645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9FE2B3"/>
                </a:solidFill>
                <a:latin typeface="Poppins"/>
              </a:defRPr>
            </a:pPr>
            <a:r>
              <a:t>Oracle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8006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F8FAFC"/>
                </a:solidFill>
                <a:latin typeface="Lato"/>
              </a:defRPr>
            </a:pPr>
            <a:r>
              <a:t>Current 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82A35"/>
                </a:solidFill>
                <a:latin typeface="Lato"/>
              </a:defRPr>
            </a:pPr>
            <a:r>
              <a:t>Java is used across many domains — not just one type of application.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Reference: W3Schools Java Tutorial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4AA6D"/>
                </a:solidFill>
                <a:latin typeface="Poppins"/>
              </a:defRPr>
            </a:pPr>
            <a: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282A35"/>
                </a:solidFill>
                <a:latin typeface="Poppins"/>
              </a:defRPr>
            </a:pPr>
            <a:r>
              <a:t>Where is Java used?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7472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74720" cy="64008"/>
          </a:xfrm>
          <a:prstGeom prst="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37A4F"/>
                </a:solidFill>
                <a:latin typeface="Poppins"/>
              </a:defRPr>
            </a:pPr>
            <a:r>
              <a:t>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Android apps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7472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474720" cy="64008"/>
          </a:xfrm>
          <a:prstGeom prst="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488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37A4F"/>
                </a:solidFill>
                <a:latin typeface="Poppins"/>
              </a:defRPr>
            </a:pPr>
            <a:r>
              <a:t>Desktop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974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Cross-platform apps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828800"/>
            <a:ext cx="347472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59" y="1828800"/>
            <a:ext cx="3474720" cy="64008"/>
          </a:xfrm>
          <a:prstGeom prst="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9" y="21488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37A4F"/>
                </a:solidFill>
                <a:latin typeface="Poppins"/>
              </a:defRPr>
            </a:pPr>
            <a:r>
              <a:t>Web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9" y="26974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Web applications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31920"/>
            <a:ext cx="347472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931920"/>
            <a:ext cx="3474720" cy="64008"/>
          </a:xfrm>
          <a:prstGeom prst="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519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37A4F"/>
                </a:solidFill>
                <a:latin typeface="Poppins"/>
              </a:defRPr>
            </a:pPr>
            <a:r>
              <a:t>Servers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Application servers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931920"/>
            <a:ext cx="347472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931920"/>
            <a:ext cx="3474720" cy="64008"/>
          </a:xfrm>
          <a:prstGeom prst="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2519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37A4F"/>
                </a:solidFill>
                <a:latin typeface="Poppins"/>
              </a:defRPr>
            </a:pPr>
            <a:r>
              <a:t>Games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8006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Game development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3931920"/>
            <a:ext cx="347472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59" y="3931920"/>
            <a:ext cx="3474720" cy="64008"/>
          </a:xfrm>
          <a:prstGeom prst="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9" y="42519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37A4F"/>
                </a:solidFill>
                <a:latin typeface="Poppins"/>
              </a:defRPr>
            </a:pPr>
            <a:r>
              <a:t>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9" y="48006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Database connections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Reference: W3Schools Java Tutorial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4AA6D"/>
                </a:solidFill>
                <a:latin typeface="Poppins"/>
              </a:defRPr>
            </a:pPr>
            <a:r>
              <a:t>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282A35"/>
                </a:solidFill>
                <a:latin typeface="Poppins"/>
              </a:defRPr>
            </a:pPr>
            <a:r>
              <a:t>Why use Java?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2120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92808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82A35"/>
                </a:solidFill>
                <a:latin typeface="Lato"/>
              </a:defRPr>
            </a:pPr>
            <a:r>
              <a:t>Works on different platforms (Windows, Mac, Linux, Raspberry Pi, …)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92808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82A35"/>
                </a:solidFill>
                <a:latin typeface="Lato"/>
              </a:defRPr>
            </a:pPr>
            <a:r>
              <a:t>One of the most popular programming languages in the world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88920"/>
            <a:ext cx="52120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90088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82A35"/>
                </a:solidFill>
                <a:latin typeface="Lato"/>
              </a:defRPr>
            </a:pPr>
            <a:r>
              <a:t>Strong demand in the current job market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88920"/>
            <a:ext cx="52120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90088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82A35"/>
                </a:solidFill>
                <a:latin typeface="Lato"/>
              </a:defRPr>
            </a:pPr>
            <a:r>
              <a:t>Easy to learn and simple to use for beginners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86200"/>
            <a:ext cx="52120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87368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82A35"/>
                </a:solidFill>
                <a:latin typeface="Lato"/>
              </a:defRPr>
            </a:pPr>
            <a:r>
              <a:t>Open-source and free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86200"/>
            <a:ext cx="52120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087368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82A35"/>
                </a:solidFill>
                <a:latin typeface="Lato"/>
              </a:defRPr>
            </a:pPr>
            <a:r>
              <a:t>Secure, fast, and powerful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983479"/>
            <a:ext cx="52120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84647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82A35"/>
                </a:solidFill>
                <a:latin typeface="Lato"/>
              </a:defRPr>
            </a:pPr>
            <a:r>
              <a:t>Huge community support (tens of millions of developers)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983479"/>
            <a:ext cx="52120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184647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82A35"/>
                </a:solidFill>
                <a:latin typeface="Lato"/>
              </a:defRPr>
            </a:pPr>
            <a:r>
              <a:t>Object-oriented — clear program structure and reusable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86400"/>
            <a:ext cx="10881360" cy="640080"/>
          </a:xfrm>
          <a:prstGeom prst="round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96128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Lato"/>
              </a:defRPr>
            </a:pPr>
            <a:r>
              <a:t>Java is close to C++ and C# — easy to switch between these languages.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Reference: W3Schools Java Tutorial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4AA6D"/>
                </a:solidFill>
                <a:latin typeface="Poppins"/>
              </a:defRPr>
            </a:pPr>
            <a: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282A35"/>
                </a:solidFill>
                <a:latin typeface="Poppins"/>
              </a:defRPr>
            </a:pPr>
            <a:r>
              <a:t>Write once, run anywhere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Lato"/>
              </a:defRPr>
            </a:pPr>
            <a:r>
              <a:t>Java source code is compiled to bytecode, then runs on the Java Virtual Machine (JVM).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2004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4AA6D"/>
                </a:solidFill>
                <a:latin typeface="Poppins"/>
              </a:defRPr>
            </a:pPr>
            <a:r>
              <a:t>1. 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54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Lato"/>
              </a:defRPr>
            </a:pPr>
            <a:r>
              <a:t>.java source 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3063240"/>
            <a:ext cx="320040" cy="45720"/>
          </a:xfrm>
          <a:prstGeom prst="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32004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5603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4AA6D"/>
                </a:solidFill>
                <a:latin typeface="Poppins"/>
              </a:defRPr>
            </a:pPr>
            <a:r>
              <a:t>2. Compile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154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Lato"/>
              </a:defRPr>
            </a:pPr>
            <a:r>
              <a:t>javac → .class bytecode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80" y="3063240"/>
            <a:ext cx="320040" cy="45720"/>
          </a:xfrm>
          <a:prstGeom prst="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2286000"/>
            <a:ext cx="32004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5603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4AA6D"/>
                </a:solidFill>
                <a:latin typeface="Poppins"/>
              </a:defRPr>
            </a:pPr>
            <a:r>
              <a:t>3.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154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Lato"/>
              </a:defRPr>
            </a:pPr>
            <a:r>
              <a:t>JVM on any platform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72000"/>
            <a:ext cx="10881360" cy="1371600"/>
          </a:xfrm>
          <a:prstGeom prst="roundRect">
            <a:avLst/>
          </a:prstGeom>
          <a:solidFill>
            <a:srgbClr val="28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9FE2B3"/>
                </a:solidFill>
                <a:latin typeface="Poppins"/>
              </a:defRPr>
            </a:pPr>
            <a:r>
              <a:t>Same bytecode runs on many platforms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257800"/>
            <a:ext cx="1828800" cy="457200"/>
          </a:xfrm>
          <a:prstGeom prst="roundRect">
            <a:avLst/>
          </a:prstGeom>
          <a:solidFill>
            <a:srgbClr val="03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035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ato"/>
              </a:defRPr>
            </a:pPr>
            <a:r>
              <a:t>Windows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5257800"/>
            <a:ext cx="1828800" cy="457200"/>
          </a:xfrm>
          <a:prstGeom prst="roundRect">
            <a:avLst/>
          </a:prstGeom>
          <a:solidFill>
            <a:srgbClr val="03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53035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ato"/>
              </a:defRPr>
            </a:pPr>
            <a:r>
              <a:t>macOS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5257800"/>
            <a:ext cx="1828800" cy="457200"/>
          </a:xfrm>
          <a:prstGeom prst="roundRect">
            <a:avLst/>
          </a:prstGeom>
          <a:solidFill>
            <a:srgbClr val="03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53035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ato"/>
              </a:defRPr>
            </a:pPr>
            <a:r>
              <a:t>Linux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59" y="5257800"/>
            <a:ext cx="1828800" cy="457200"/>
          </a:xfrm>
          <a:prstGeom prst="roundRect">
            <a:avLst/>
          </a:prstGeom>
          <a:solidFill>
            <a:srgbClr val="03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59" y="53035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ato"/>
              </a:defRPr>
            </a:pPr>
            <a:r>
              <a:t>Android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5257800"/>
            <a:ext cx="1828800" cy="457200"/>
          </a:xfrm>
          <a:prstGeom prst="roundRect">
            <a:avLst/>
          </a:prstGeom>
          <a:solidFill>
            <a:srgbClr val="03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53035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ato"/>
              </a:defRPr>
            </a:pPr>
            <a:r>
              <a:t>Cloud servers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Reference: W3Schools Java Tutorial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4AA6D"/>
                </a:solidFill>
                <a:latin typeface="Poppins"/>
              </a:defRPr>
            </a:pPr>
            <a:r>
              <a:t>PARADIGM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282A35"/>
                </a:solidFill>
                <a:latin typeface="Poppins"/>
              </a:defRPr>
            </a:pPr>
            <a:r>
              <a:t>Java is object-oriented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029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5720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475569"/>
                </a:solidFill>
                <a:latin typeface="Lato"/>
              </a:defRPr>
            </a:pPr>
            <a:r>
              <a:t>Programs are built from classes and objects.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A class is a blueprint; an object is a real instance.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OOP gives programs a clear structure.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Code can be reused, lowering development costs.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You'll learn classes, objects, methods, and encapsulation in depth.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828800"/>
            <a:ext cx="54864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96596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9FE2B3"/>
                </a:solidFill>
                <a:latin typeface="Poppins"/>
              </a:defRPr>
            </a:pPr>
            <a:r>
              <a:t>Class (blueprint)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33172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class Car { String brand; void honk() { … }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657600"/>
            <a:ext cx="5486400" cy="1463040"/>
          </a:xfrm>
          <a:prstGeom prst="roundRect">
            <a:avLst/>
          </a:prstGeom>
          <a:solidFill>
            <a:srgbClr val="03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79476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oppins"/>
              </a:defRPr>
            </a:pPr>
            <a:r>
              <a:t>Object (instance)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16052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ourier New"/>
              </a:defRPr>
            </a:pPr>
            <a:r>
              <a:t>Car myCar = new Car();</a:t>
            </a:r>
            <a:br/>
            <a:r>
              <a:t>myCar.brand = "Toyota";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Reference: W3Schools Java Tutorial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4AA6D"/>
                </a:solidFill>
                <a:latin typeface="Poppins"/>
              </a:defRPr>
            </a:pPr>
            <a:r>
              <a:t>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82A35"/>
                </a:solidFill>
                <a:latin typeface="Poppins"/>
              </a:defRPr>
            </a:pPr>
            <a:r>
              <a:t>Anatomy of a Java program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6692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212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public class Main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9424"/>
            <a:ext cx="5212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  public static void main(String[] args)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5212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    String name = "John";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07792"/>
            <a:ext cx="5212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    System.out.println("Hello " + name);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36976"/>
            <a:ext cx="5212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5212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828800"/>
            <a:ext cx="484632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192024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37A4F"/>
                </a:solidFill>
                <a:latin typeface="Courier New"/>
              </a:defRPr>
            </a:pPr>
            <a:r>
              <a:t>public class 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21284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Lato"/>
              </a:defRPr>
            </a:pPr>
            <a:r>
              <a:t>Every Java file needs a class. Filename must match.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788920"/>
            <a:ext cx="484632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8036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37A4F"/>
                </a:solidFill>
                <a:latin typeface="Courier New"/>
              </a:defRPr>
            </a:pPr>
            <a:r>
              <a:t>main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17296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Lato"/>
              </a:defRPr>
            </a:pPr>
            <a:r>
              <a:t>Entry point — program starts here.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3749039"/>
            <a:ext cx="484632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3840479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37A4F"/>
                </a:solidFill>
                <a:latin typeface="Courier New"/>
              </a:defRPr>
            </a:pPr>
            <a:r>
              <a:t>String name = 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133087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Lato"/>
              </a:defRPr>
            </a:pPr>
            <a:r>
              <a:t>Variable declaration and assignment.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709160"/>
            <a:ext cx="484632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48006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37A4F"/>
                </a:solidFill>
                <a:latin typeface="Courier New"/>
              </a:defRPr>
            </a:pPr>
            <a:r>
              <a:t>System.out.println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509320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Lato"/>
              </a:defRPr>
            </a:pPr>
            <a:r>
              <a:t>Prints output to the console.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Reference: W3Schools Java Tutorial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FE2B3"/>
                </a:solidFill>
                <a:latin typeface="Poppins"/>
              </a:defRPr>
            </a:pPr>
            <a: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Poppins"/>
              </a:defRPr>
            </a:pPr>
            <a:r>
              <a:t>Your first Java program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685800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6400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public class Main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86584"/>
            <a:ext cx="6400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  public static void main(String[] args)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15768"/>
            <a:ext cx="6400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    String name = "John";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44952"/>
            <a:ext cx="6400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    System.out.println("Hello " + name);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74136"/>
            <a:ext cx="6400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6400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474720" cy="1280160"/>
          </a:xfrm>
          <a:prstGeom prst="round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2402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69748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282A35"/>
                </a:solidFill>
                <a:latin typeface="Courier New"/>
              </a:defRPr>
            </a:pPr>
            <a:r>
              <a:t>Hello John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Lato"/>
              </a:defRPr>
            </a:pPr>
            <a:r>
              <a:t>This is the classic W3Schools example: declare a name, concatenate strings, and print to the console.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Source: w3schools.com/java/java_intro.asp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4AA6D"/>
                </a:solidFill>
                <a:latin typeface="Poppins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82A35"/>
                </a:solidFill>
                <a:latin typeface="Poppins"/>
              </a:defRPr>
            </a:pPr>
            <a:r>
              <a:t>Core topics you will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Follow the tutorial in order — each chapter builds on the previous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47472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331720"/>
            <a:ext cx="411480" cy="411480"/>
          </a:xfrm>
          <a:prstGeom prst="round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3172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82A35"/>
                </a:solidFill>
                <a:latin typeface="Poppins"/>
              </a:defRPr>
            </a:pPr>
            <a:r>
              <a:t>Basics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Syntax, output, comments, variables, data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03120"/>
            <a:ext cx="347472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2331720"/>
            <a:ext cx="411480" cy="411480"/>
          </a:xfrm>
          <a:prstGeom prst="round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35915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33172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82A35"/>
                </a:solidFill>
                <a:latin typeface="Poppins"/>
              </a:defRPr>
            </a:pPr>
            <a:r>
              <a:t>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834640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Operators, if/else, switch, loops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2103120"/>
            <a:ext cx="347472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6759" y="2331720"/>
            <a:ext cx="411480" cy="411480"/>
          </a:xfrm>
          <a:prstGeom prst="round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9" y="235915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399" y="233172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82A35"/>
                </a:solidFill>
                <a:latin typeface="Poppins"/>
              </a:defRPr>
            </a:pPr>
            <a: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2834640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Strings, arrays, methods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14800"/>
            <a:ext cx="347472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4343400"/>
            <a:ext cx="411480" cy="411480"/>
          </a:xfrm>
          <a:prstGeom prst="round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37083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34340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82A35"/>
                </a:solidFill>
                <a:latin typeface="Poppins"/>
              </a:defRPr>
            </a:pPr>
            <a:r>
              <a:t>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846320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Classes, objects, constructors, encapsulation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114800"/>
            <a:ext cx="347472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17720" y="4343400"/>
            <a:ext cx="411480" cy="411480"/>
          </a:xfrm>
          <a:prstGeom prst="round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37083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434340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82A35"/>
                </a:solidFill>
                <a:latin typeface="Poppins"/>
              </a:defRPr>
            </a:pPr>
            <a:r>
              <a:t>Advanced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846320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Inheritance, interfaces, exceptions, collections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59" y="4114800"/>
            <a:ext cx="347472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66759" y="4343400"/>
            <a:ext cx="411480" cy="411480"/>
          </a:xfrm>
          <a:prstGeom prst="round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9" y="437083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399" y="434340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82A35"/>
                </a:solidFill>
                <a:latin typeface="Poppins"/>
              </a:defRPr>
            </a:pPr>
            <a:r>
              <a:t>Practice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59" y="4846320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Exercises, quizzes, and code challenges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Reference: W3Schools Java Tutorial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4AA6D"/>
                </a:solidFill>
                <a:latin typeface="Poppins"/>
              </a:defRPr>
            </a:pPr>
            <a:r>
              <a:t>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82A35"/>
                </a:solidFill>
                <a:latin typeface="Poppins"/>
              </a:defRPr>
            </a:pPr>
            <a:r>
              <a:t>Variables &amp; data types (preview)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02920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int age = 25;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9424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double price = 19.99;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boolean active = true;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07792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char grade = 'A';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36976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String city = "Cape Town";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783080"/>
            <a:ext cx="539496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874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37A4F"/>
                </a:solidFill>
                <a:latin typeface="Courier New"/>
              </a:defRPr>
            </a:pPr>
            <a:r>
              <a:t>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87452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Whole numbers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441448"/>
            <a:ext cx="539496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5328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37A4F"/>
                </a:solidFill>
                <a:latin typeface="Courier New"/>
              </a:defRPr>
            </a:pPr>
            <a:r>
              <a:t>double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532888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Decimal numbers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099815"/>
            <a:ext cx="539496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191255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37A4F"/>
                </a:solidFill>
                <a:latin typeface="Courier New"/>
              </a:defRPr>
            </a:pPr>
            <a:r>
              <a:t>boolean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191255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true or false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3758184"/>
            <a:ext cx="539496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84962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37A4F"/>
                </a:solidFill>
                <a:latin typeface="Courier New"/>
              </a:defRPr>
            </a:pPr>
            <a:r>
              <a:t>char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849624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Single character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4416552"/>
            <a:ext cx="539496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450799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37A4F"/>
                </a:solidFill>
                <a:latin typeface="Courier New"/>
              </a:defRPr>
            </a:pPr>
            <a:r>
              <a:t>String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507992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Text (reference type)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486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W3Schools covers casting, operators, and real-life examples in the Variables and Data Types sections.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Reference: W3Schools Java Tutorial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4AA6D"/>
                </a:solidFill>
                <a:latin typeface="Poppins"/>
              </a:defRPr>
            </a:pPr>
            <a:r>
              <a:t>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82A35"/>
                </a:solidFill>
                <a:latin typeface="Poppins"/>
              </a:defRPr>
            </a:pPr>
            <a:r>
              <a:t>Control flow (preview)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37A4F"/>
                </a:solidFill>
                <a:latin typeface="Poppins"/>
              </a:defRPr>
            </a:pPr>
            <a:r>
              <a:t>if / else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4747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if (score &gt;= 50)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9464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  System.out.println("Pass");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9864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} else 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2783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  System.out.println("Fail");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57016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002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37A4F"/>
                </a:solidFill>
                <a:latin typeface="Poppins"/>
              </a:defRPr>
            </a:pPr>
            <a:r>
              <a:t>for 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011680"/>
            <a:ext cx="34747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240280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for (int i = 0; i &lt; 5; i++)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569464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  System.out.println(i);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89864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16002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37A4F"/>
                </a:solidFill>
                <a:latin typeface="Poppins"/>
              </a:defRPr>
            </a:pPr>
            <a:r>
              <a:t>while loop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9" y="2011680"/>
            <a:ext cx="34747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9" y="2240280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while (count &gt; 0) 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9" y="2569464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  count--;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9" y="289864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37760"/>
            <a:ext cx="10881360" cy="1005840"/>
          </a:xfrm>
          <a:prstGeom prst="roundRect">
            <a:avLst/>
          </a:prstGeom>
          <a:solidFill>
            <a:srgbClr val="03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6636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Lato"/>
              </a:defRPr>
            </a:pPr>
            <a:r>
              <a:t>Programs need decisions and repetition. W3Schools teaches if/else, switch, while, for, and for-each loops with real-life examples.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Reference: W3Schools Java Tutorial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4AA6D"/>
                </a:solidFill>
                <a:latin typeface="Poppins"/>
              </a:defRPr>
            </a:pPr>
            <a:r>
              <a:t>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282A35"/>
                </a:solidFill>
                <a:latin typeface="Poppins"/>
              </a:defRPr>
            </a:pPr>
            <a:r>
              <a:t>How to get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62179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475569"/>
                </a:solidFill>
                <a:latin typeface="Lato"/>
              </a:defRPr>
            </a:pPr>
            <a:r>
              <a:t>You don't need prior programming experience — just curiosity and practice.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Follow the W3Schools Java tutorial in order.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Each chapter builds on the previous one.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Use the online Try It editor to run examples in your browser.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Complete exercises and code challenges to reinforce learning.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By the end, you'll write basic Java programs and apply skills to real examples.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828800"/>
            <a:ext cx="4389120" cy="3474720"/>
          </a:xfrm>
          <a:prstGeom prst="roundRect">
            <a:avLst/>
          </a:prstGeom>
          <a:solidFill>
            <a:srgbClr val="28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205740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9FE2B3"/>
                </a:solidFill>
                <a:latin typeface="Poppins"/>
              </a:defRPr>
            </a:pPr>
            <a:r>
              <a:t>Start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51460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Lato"/>
              </a:defRPr>
            </a:pPr>
            <a:r>
              <a:t>→  Java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301752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Lato"/>
              </a:defRPr>
            </a:pPr>
            <a:r>
              <a:t>→  Java Get Started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352044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Lato"/>
              </a:defRPr>
            </a:pPr>
            <a:r>
              <a:t>→  Java Syntax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402336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Lato"/>
              </a:defRPr>
            </a:pPr>
            <a:r>
              <a:t>→  Java 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452628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Lato"/>
              </a:defRPr>
            </a:pPr>
            <a:r>
              <a:t>→  Java 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489204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FE2B3"/>
                </a:solidFill>
                <a:latin typeface="Lato"/>
              </a:defRPr>
            </a:pPr>
            <a:r>
              <a:t>w3schools.com/java/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Reference: W3Schools Java Tutorial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Poppins"/>
              </a:defRPr>
            </a:pPr>
            <a:r>
              <a:t>Ready to code?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0">
                <a:solidFill>
                  <a:srgbClr val="F8FAFC"/>
                </a:solidFill>
                <a:latin typeface="Lato"/>
              </a:defRPr>
            </a:pPr>
            <a:r>
              <a:t>Open the W3Schools Java tutorial, run the Hello World example, and experiment by changing the name variable.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3840480"/>
            <a:ext cx="5212080" cy="1280160"/>
          </a:xfrm>
          <a:prstGeom prst="roundRect">
            <a:avLst/>
          </a:prstGeom>
          <a:solidFill>
            <a:srgbClr val="04A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Lato"/>
              </a:defRPr>
            </a:pPr>
            <a:r>
              <a:t>w3schools.com/java/java_intro.asp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Lato"/>
              </a:defRPr>
            </a:pPr>
            <a:r>
              <a:t>Practice daily. Small steps compound into real programming skill.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