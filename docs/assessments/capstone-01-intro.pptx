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Set expectations: this is Capstone 1, focused on domain modelling and correct order totals — not payments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this is foundational — correctness and clear modelling matter more than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the assessment doc and starter repo. Encourage incremental commits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1097280"/>
            <a:ext cx="3291840" cy="4663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0" y="1463040"/>
            <a:ext cx="2560320" cy="3931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CAPSTONE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132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Poppins"/>
              </a:defRPr>
            </a:pPr>
            <a:r>
              <a:t>Merchant Order Desk</a:t>
            </a:r>
            <a:br/>
            <a:r>
              <a:t>&amp; Catalogue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Lato"/>
              </a:defRPr>
            </a:pPr>
            <a:r>
              <a:t>An introduction for students — build a trustworthy commerce kernel in plain Java.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PayNest · Junior Backend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What is this capstone?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Lato"/>
              </a:defRPr>
            </a:pPr>
            <a:r>
              <a:t>Your first production-minded backend assignment in the PayNest programme.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120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Ship a minimal commerce kernel merchants can trust.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77440"/>
            <a:ext cx="52120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606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1752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Products, customers, orders, and correct totals.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89120"/>
            <a:ext cx="52120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38912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Plain Java objects — no frameworks, no database.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89120"/>
            <a:ext cx="52120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8912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6177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0292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A CLI demo that prints a clear order summary.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Meet PayNest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58368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6035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Early-stage South African fintech building lightweight commerce tools.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Target customers: small merchants selling hardware and accessories online and at markets.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They cannot afford Shopify-scale subscriptions.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They still need consistent pricing, order totals, and customer-linked receipts.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Payment integration comes later — first, prove the commerce kernel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828800"/>
            <a:ext cx="393192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10312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Your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60"/>
            <a:ext cx="3383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"Ship something we can demo to merchants next week — no frameworks, just solid Java objects we can extend later."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1148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Poppins"/>
              </a:defRPr>
            </a:pPr>
            <a:r>
              <a:t>Currency: Rand (R)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Lato"/>
              </a:defRPr>
            </a:pPr>
            <a:r>
              <a:t>Spreadsheets and WhatsApp messages break down as merchants grow.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Poppins"/>
              </a:defRPr>
            </a:pPr>
            <a:r>
              <a:t>Line totals disagree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with invoices and receipts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Poppins"/>
              </a:defRPr>
            </a:pPr>
            <a:r>
              <a:t>Duplicate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get added by mistake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2860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25603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Poppins"/>
              </a:defRPr>
            </a:pPr>
            <a:r>
              <a:t>No single code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9" y="320040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computes "what the customer owes"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46320"/>
            <a:ext cx="10881360" cy="10972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ato"/>
              </a:defRPr>
            </a:pPr>
            <a:r>
              <a:t>PayNest needs a minimal commerce kernel: products with prices, customers, orders with line items, and a trustworthy order total.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Poppins"/>
              </a:defRPr>
            </a:pPr>
            <a:r>
              <a:t>YOUR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Junior backend engineer on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6596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Lato"/>
              </a:defRPr>
            </a:pPr>
            <a:r>
              <a:t>Model the domain with small, cohesive Java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346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Lato"/>
              </a:defRPr>
            </a:pPr>
            <a:r>
              <a:t>Implement correct line subtotals and grand totals.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57600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0332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Lato"/>
              </a:defRPr>
            </a:pPr>
            <a:r>
              <a:t>Print a human-readable order summary for demo reviewers.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26279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71999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571999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Lato"/>
              </a:defRPr>
            </a:pPr>
            <a:r>
              <a:t>Write tests that would catch arithmetic or collection regressions.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394960"/>
            <a:ext cx="5029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4068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Lato"/>
              </a:defRPr>
            </a:pPr>
            <a:r>
              <a:t>Explain how your design can grow without rewriting checkout.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Capstone 1 · Commerce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What you will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108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108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Poppins"/>
              </a:defRPr>
            </a:pPr>
            <a: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Lato"/>
              </a:defRPr>
            </a:pPr>
            <a:r>
              <a:t>id, name, price (R)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828800"/>
            <a:ext cx="3108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828800"/>
            <a:ext cx="3108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Poppins"/>
              </a:defRPr>
            </a:pPr>
            <a: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231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Lato"/>
              </a:defRPr>
            </a:pPr>
            <a:r>
              <a:t>id, name,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828800"/>
            <a:ext cx="3108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1828800"/>
            <a:ext cx="3108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0116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Poppins"/>
              </a:defRPr>
            </a:pPr>
            <a:r>
              <a:t>OrderItem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4231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Lato"/>
              </a:defRPr>
            </a:pPr>
            <a:r>
              <a:t>product × quantity → line total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3657600"/>
            <a:ext cx="3108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40" y="3657600"/>
            <a:ext cx="3108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38404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Poppins"/>
              </a:defRPr>
            </a:pPr>
            <a:r>
              <a:t>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251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Lato"/>
              </a:defRPr>
            </a:pPr>
            <a:r>
              <a:t>owns items, calculates grand 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3657600"/>
            <a:ext cx="3108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3657600"/>
            <a:ext cx="3108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84048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Poppins"/>
              </a:defRPr>
            </a:pPr>
            <a:r>
              <a:t>OrderService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251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Lato"/>
              </a:defRPr>
            </a:pPr>
            <a:r>
              <a:t>creates orders for customers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5303520"/>
            <a:ext cx="3108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5303520"/>
            <a:ext cx="3108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54864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Poppins"/>
              </a:defRPr>
            </a:pPr>
            <a:r>
              <a:t>PayNestApplication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8978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Lato"/>
              </a:defRPr>
            </a:pPr>
            <a:r>
              <a:t>demo: products → order → summary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2423160"/>
            <a:ext cx="32004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0" y="2423160"/>
            <a:ext cx="228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3063240"/>
            <a:ext cx="36576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3063240"/>
            <a:ext cx="36576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0" y="4892040"/>
            <a:ext cx="36576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Lato"/>
              </a:defRPr>
            </a:pPr>
            <a:r>
              <a:t>Read-only checkout for Capstone 1 — focus on modelling and correct totals.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Poppins"/>
              </a:defRPr>
            </a:pPr>
            <a:r>
              <a:t>Domain model: Product &amp; 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03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Poppins"/>
              </a:defRPr>
            </a:pPr>
            <a:r>
              <a:t>Product catalogue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46634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475569"/>
                </a:solidFill>
                <a:latin typeface="Lato"/>
              </a:defRPr>
            </a:pPr>
            <a:r>
              <a:t>Private fields: id, name, unit price (Rand).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Constructor: new Product(1, "Laptop", 12000)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Getters for name and price when building summaries.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303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Poppins"/>
              </a:defRPr>
            </a:pPr>
            <a:r>
              <a:t>Customer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14600"/>
            <a:ext cx="46634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475569"/>
                </a:solidFill>
                <a:latin typeface="Lato"/>
              </a:defRPr>
            </a:pPr>
            <a:r>
              <a:t>Private fields: id, name, contact (e.g. email).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Constructor and getters for receipt header.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Links a person to every order they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Poppins"/>
              </a:defRPr>
            </a:pPr>
            <a:r>
              <a:t>Domain model: Order &amp; OrderItem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68580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OrderItem links one Product with a quantity; calculateTotal() = price × quantity.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Order stores id, Customer, and List&lt;OrderItem&gt;.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addItem(Product, quantity) — quantities must be positive integers.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calculateTotal() loops items and sums line subtotals.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printSummary() lists each line (name, qty, subtotal) plus grand total.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Console output must let reviewers reconcile totals manually — no hidden magic.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65760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0574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B8A6"/>
                </a:solidFill>
                <a:latin typeface="Poppins"/>
              </a:defRPr>
            </a:pPr>
            <a:r>
              <a:t>Example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514600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4B8A6"/>
                </a:solidFill>
                <a:latin typeface="Lato"/>
              </a:defRPr>
            </a:pPr>
            <a:r>
              <a:t>Customer: Thabo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898648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t>─────────────────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82696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t>Laptop    × 1  R12,000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666744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t>Mouse     × 2  R   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05079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t>─────────────────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434840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t>Grand total    R12,400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Poppins"/>
              </a:defRPr>
            </a:pPr>
            <a:r>
              <a:t>Suggested implementation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Complete classes in this order before worrying about polish.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438912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02536"/>
            <a:ext cx="438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20824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Create Product and Customer data classes.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87752"/>
            <a:ext cx="438912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24328"/>
            <a:ext cx="438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42616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Create OrderItem; verify one line subtotal is correct.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09544"/>
            <a:ext cx="438912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438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6440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Create Order with an empty List&lt;OrderItem&gt; in the constructor.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31335"/>
            <a:ext cx="438912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1"/>
            <a:ext cx="438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oppin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86199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Add Order#addItem(...) and confirm the list grows.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53128"/>
            <a:ext cx="438912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89704"/>
            <a:ext cx="438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oppin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07992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Add Order#calculateTotal() by summing each OrderItem total.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74920"/>
            <a:ext cx="438912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11496"/>
            <a:ext cx="438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oppins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29784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Add Order#printSummary() only after calculations are correct.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696712"/>
            <a:ext cx="438912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33288"/>
            <a:ext cx="4389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oppins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751576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Wire the full flow in PayNestApplication.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Poppins"/>
              </a:defRPr>
            </a:pPr>
            <a:r>
              <a:t>Technical constraints &amp; business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12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Lato"/>
              </a:defRPr>
            </a:pPr>
            <a:r>
              <a:t>Java 21 · Maven · JUnit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12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013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Lato"/>
              </a:defRPr>
            </a:pPr>
            <a:r>
              <a:t>Plain Java — no Spring, no app server, no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5212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Lato"/>
              </a:defRPr>
            </a:pPr>
            <a:r>
              <a:t>com.paynestsystem — domain, service,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212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9443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Collections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461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Lato"/>
              </a:defRPr>
            </a:pPr>
            <a:r>
              <a:t>JDK List for order lines; avoid parallel streams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5212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87367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Line subtotal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19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Lato"/>
              </a:defRPr>
            </a:pPr>
            <a:r>
              <a:t>unitPrice × quantity (double arithmetic)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77639"/>
            <a:ext cx="5212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087367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Grand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89119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Lato"/>
              </a:defRPr>
            </a:pPr>
            <a:r>
              <a:t>Must equal sum of line subtotals shown in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20640"/>
            <a:ext cx="5212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2303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Quantities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Lato"/>
              </a:defRPr>
            </a:pPr>
            <a:r>
              <a:t>Must be &gt; 0; reject or guard invalid adds consistently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120640"/>
            <a:ext cx="52120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230368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Poppins"/>
              </a:defRPr>
            </a:pPr>
            <a:r>
              <a:t>Encapsulation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53212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Lato"/>
              </a:defRPr>
            </a:pPr>
            <a:r>
              <a:t>Don't expose mutable internals that corrupt totals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Poppins"/>
              </a:defRPr>
            </a:pPr>
            <a:r>
              <a:t>Deliverables &amp; demo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Source code implementing the commerce flow in the repo layout.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mvn test passes on your branch (add tests for totals and edge cases).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Short setup note: how to run the demo and what output reviewers expect.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Optional: simple diagram (OrderService → domain → summary).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Submit per programme rules (zip, Git tag, or LMS upload).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4572000" cy="4023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96596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Demo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42316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✓  ≥ 2 sample Product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92608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✓  1 sample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342900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✓  Order with ≥ 2 line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93192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✓  At least one qty &gt;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443484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✓  Printed summary with grand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Poppins"/>
              </a:defRPr>
            </a:pPr>
            <a:r>
              <a:t>How you will be assessed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oppins"/>
              </a:defRPr>
            </a:pPr>
            <a: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7830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oppins"/>
              </a:defRPr>
            </a:pPr>
            <a:r>
              <a:t>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Poppins"/>
              </a:defRPr>
            </a:pPr>
            <a:r>
              <a:t>What reviewers look 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10881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Lato"/>
              </a:defRPr>
            </a:pPr>
            <a:r>
              <a:t>Architecture &amp; domain modelling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42316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Lato"/>
              </a:defRPr>
            </a:pPr>
            <a: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95728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Lato"/>
              </a:defRPr>
            </a:pPr>
            <a:r>
              <a:t>Clear separation; coherent OrderService; extensible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63240"/>
            <a:ext cx="10881360" cy="685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Lato"/>
              </a:defRPr>
            </a:pPr>
            <a:r>
              <a:t>Correctness &amp; business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2004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Lato"/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72968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Lato"/>
              </a:defRPr>
            </a:pPr>
            <a:r>
              <a:t>Matching subtotals; validated quantities; summary matches computation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881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Lato"/>
              </a:defRPr>
            </a:pPr>
            <a:r>
              <a:t>Testing &amp;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9776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Lato"/>
              </a:defRPr>
            </a:pPr>
            <a: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950208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Lato"/>
              </a:defRPr>
            </a:pPr>
            <a:r>
              <a:t>Tests cover totals and edge cases; mvn test green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10881360" cy="685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5488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Lato"/>
              </a:defRPr>
            </a:pPr>
            <a:r>
              <a:t>Code quality &amp; maintainability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75488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Lato"/>
              </a:defRPr>
            </a:pPr>
            <a: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27448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Lato"/>
              </a:defRPr>
            </a:pPr>
            <a:r>
              <a:t>Readable code, encapsulation, no dead paths in main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94960"/>
            <a:ext cx="108813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53212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Lato"/>
              </a:defRPr>
            </a:pPr>
            <a:r>
              <a:t>Documentation &amp; 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53212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Lato"/>
              </a:defRPr>
            </a:pPr>
            <a: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504688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Lato"/>
              </a:defRPr>
            </a:pPr>
            <a:r>
              <a:t>Setup instructions; comments on non-obvious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86400"/>
            <a:ext cx="1088136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Lato"/>
              </a:defRPr>
            </a:pPr>
            <a:r>
              <a:t>Pass expectation: no critical correctness failures in totals.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Capstone Programme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Poppins"/>
              </a:defRPr>
            </a:pPr>
            <a:r>
              <a:t>Ready to build?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  <a:latin typeface="Lato"/>
              </a:defRPr>
            </a:pPr>
            <a:r>
              <a:t>Start with Product and Customer. Get one line total right before you print a summary. Ask early if a requirement is unclear.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114800"/>
            <a:ext cx="5760720" cy="13716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4343400"/>
            <a:ext cx="5394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Lato"/>
              </a:defRPr>
            </a:pPr>
            <a:r>
              <a:t>Read the full brief:</a:t>
            </a:r>
            <a:br/>
            <a:r>
              <a:t>docs/assessments/capstone-01-commerce-engine.md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Lato"/>
              </a:defRPr>
            </a:pPr>
            <a:r>
              <a:t>Good luck — ship something merchants can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