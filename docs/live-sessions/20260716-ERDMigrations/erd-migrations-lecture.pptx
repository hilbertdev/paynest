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Full walkthrough: 01-code-first-migrations-walkthrough.md. ERD is visualisation only; migrations come from Java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discussion. Expected: TransactionRecord, idempotency; flatten Transaction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H2Schema.java or schema artefact. UNIQUE prevents duplicate business attempts.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students to 01-code-first-migrations-walkthrough.md and Capstone 4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1097280"/>
            <a:ext cx="3291840" cy="46634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78240" y="1463040"/>
            <a:ext cx="2560320" cy="3931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Poppins"/>
              </a:defRPr>
            </a:pPr>
            <a:r>
              <a:t>LIVE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3152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Poppins"/>
              </a:defRPr>
            </a:pPr>
            <a:r>
              <a:t>ERD + Code-First</a:t>
            </a:r>
            <a:br/>
            <a:r>
              <a:t>Migrations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6858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>
                <a:solidFill>
                  <a:srgbClr val="F8FAFC"/>
                </a:solidFill>
                <a:latin typeface="Lato"/>
              </a:defRPr>
            </a:pPr>
            <a:r>
              <a:t>From Java domain classes → SQL migrations → H2 database (Capstone 4 prep)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First-time programmers · Plain JDBC · No 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WHY A DATABASE?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Memory is not durable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5156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In-memory stores (HashMap) lose everything on restart or crash.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Finance needs counts that match persisted rows — not developer RAM.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Retries: “Did we charge twice?” — you need a row to point at.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Capstone 4: payment attempts must survive restarts using H2 on disk.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10881360" cy="13716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Lato"/>
              </a:defRPr>
            </a:pPr>
            <a:r>
              <a:t>Database = long-term storage on disk. Java reloads rows after restart.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Session spine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37360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4708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84708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Understand domain classes → map fields to columns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9748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97480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0720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0720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Create migrations (write CREATE TABLE SQL)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65760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657600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6732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76732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Apply migration to H2 via JDBC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1772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617720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2744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72744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Preview: Java stores INSERT / SELECT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77840"/>
            <a:ext cx="10881360" cy="822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577840"/>
            <a:ext cx="73152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687568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Step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687568"/>
            <a:ext cx="8686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Reset schema (wipe local H2 runbook)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oppins"/>
              </a:defRPr>
            </a:pPr>
            <a:r>
              <a:t>Source of truth: Java classes in com.paynestsystem.domain — not the ERD diagram.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ERD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ERD = visualisation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035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paynest-erd.drawio helps you see entities &amp; relationships.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Open on projector or while studying — optional.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Do NOT export SQL from draw.io.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If stuck on relationships: peek at diagram, then return to .java 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303520" cy="43891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Do this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423160"/>
            <a:ext cx="47548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Write SQL from Java fields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Use diagram to check understanding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3840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Poppins"/>
              </a:defRPr>
            </a:pPr>
            <a:r>
              <a:t>Do not do this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343400"/>
            <a:ext cx="47548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Wait for ERD before Step 2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Copy column names only from boxes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Key terms (1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A thing you care about → Java class → SQL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Column / field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One piece of data (e.g. Customer.name → customers.name)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Primary key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Uniquely identifies one row (like a student number)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Foreign key (FK)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947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Points to another table's PK (orders.customer_id → customers.id)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Migration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Versioned SQL that changes DB structure (schema-v1.sql)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92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DDL vs DML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3949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DDL = CREATE TABLE; DML = INSERT / SELECT after tables exist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Key terms (2 of 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H2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Small Java DB; file URL: jdbc:h2:file:./data/paynest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JDBC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Java API to connect and run SQL (DriverManager, Connection)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29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Code-first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Classes exist first → you author DDL to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2918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4290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Idempotency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947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Same key on retry = same outcome; store as UNIQUE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92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ERD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949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Picture of the model — not a build step for PayNest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892040"/>
            <a:ext cx="5394960" cy="14173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50292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0D9488"/>
                </a:solidFill>
                <a:latin typeface="Poppins"/>
              </a:defRPr>
            </a:pPr>
            <a:r>
              <a:t>No EF / Flyway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394960"/>
            <a:ext cx="4937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You write SQL manually; Capstone 4 wants plain JDBC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Code-first (PayNest)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Java domain classes already exist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Decide what must survive restart (Capstone 4: payments)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Step 2: WRITE CREATE TABLE 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2062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Step 3: APPLY SQL to H2 with JDBC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120640"/>
            <a:ext cx="457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14B8A6"/>
                </a:solidFill>
                <a:latin typeface="Lato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12064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F8FAFC"/>
                </a:solidFill>
                <a:latin typeface="Lato"/>
              </a:defRPr>
            </a:pPr>
            <a:r>
              <a:t>Capstone 4: stores that INSERT / SELECT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486400"/>
            <a:ext cx="10881360" cy="6858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ato"/>
              </a:defRPr>
            </a:pPr>
            <a:r>
              <a:t>Database-first (tables first, classes later) — not our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No Spring ddl-auto · No Hibernate in this scaffold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Understand the domain (classes)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Goal: know fields → decide tables &amp; columns before writing SQL.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029200" cy="3474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Poppins"/>
              </a:defRPr>
            </a:pPr>
            <a:r>
              <a:t>Commerce (Capstone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44805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Product — id, name, price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Customer — id, name, email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Order — id, customer (object!), items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OrderItem — product, quantity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Usually in-memory today — practise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194560"/>
            <a:ext cx="5577840" cy="347472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42316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Poppins"/>
              </a:defRPr>
            </a:pPr>
            <a:r>
              <a:t>Payments (Capstone 4–5)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5029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475569"/>
                </a:solidFill>
                <a:latin typeface="Lato"/>
              </a:defRPr>
            </a:pPr>
            <a:r>
              <a:t>Transaction — amount, bank, timestamp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TransactionRecord — id, idempotencyKey, nested Transaction, status…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AiDecisionRecord — audit trail (Capstone 5)</a:t>
            </a:r>
          </a:p>
          <a:p>
            <a:pPr>
              <a:spcAft>
                <a:spcPts val="600"/>
              </a:spcAft>
              <a:defRPr sz="1500">
                <a:solidFill>
                  <a:srgbClr val="475569"/>
                </a:solidFill>
                <a:latin typeface="Lato"/>
              </a:defRPr>
            </a:pPr>
            <a:r>
              <a:t>These must become durable H2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Nested objects → flatten or FK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Databases don't store Java objects inside a column the same 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nsolas"/>
              </a:defRPr>
            </a:pPr>
            <a:r>
              <a:t>Order.customer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37744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Becomes orders.customer_id (FK → customers.id)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39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03319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nsolas"/>
              </a:defRPr>
            </a:pPr>
            <a:r>
              <a:t>Transaction inside TransactionRecord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03319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Flatten: amount, bank, transaction_timestamp on transaction_records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846320"/>
            <a:ext cx="108813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029200"/>
            <a:ext cx="4114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D9488"/>
                </a:solidFill>
                <a:latin typeface="Consolas"/>
              </a:defRPr>
            </a:pPr>
            <a:r>
              <a:t>Java enum (TransactionStatus)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029200"/>
            <a:ext cx="6217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Lato"/>
              </a:defRPr>
            </a:pPr>
            <a:r>
              <a:t>Store as VARCHAR: PENDING, ROUTED, COMPLETED, FAILED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Worked example: TransactionRecord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108960"/>
                <a:gridCol w="1828800"/>
                <a:gridCol w="301752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Java 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SQL column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PK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idempotencyKey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idempotency_key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UNIQUE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transaction.amount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flattened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transaction.bank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bank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flattened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transaction.timestamp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transaction_timestamp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flattened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Consolas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VARCHAR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Lato"/>
                        </a:defRPr>
                      </a:pPr>
                      <a:r>
                        <a:t>enum as text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8521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oppins"/>
              </a:defRPr>
            </a:pPr>
            <a:r>
              <a:t>Build this mapping sheet from .java files — before opening draw.io.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Checkpoint — 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Name two Java classes Capstone 4 needs durable.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Lato"/>
              </a:defRPr>
            </a:pPr>
            <a:r>
              <a:t>Why is idempotency_key special?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Lato"/>
              </a:defRPr>
            </a:pPr>
            <a:r>
              <a:t>What happens to Transaction fields in transaction_records?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Lato"/>
              </a:defRPr>
            </a:pPr>
            <a:r>
              <a:t>Answer without opening draw.io.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Create the migrations (DDL)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Lato"/>
              </a:defRPr>
            </a:pPr>
            <a:r>
              <a:t>Turn Step 1 mapping into CREATE TABLE SQL. Nothing auto-generates this for PayNest.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30352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Work in schema-v1.sql (this folder)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Copy into H2Schema.java for Capstone deliverable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Required: transaction_records, ai_decision_records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Optional: commerce tables (commented in schema-v1.sql)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303520" cy="34747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93776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Consolas"/>
              </a:defRPr>
            </a:pPr>
            <a:r>
              <a:t>No dotnet ef migrations add</a:t>
            </a:r>
            <a:br/>
            <a:r>
              <a:t>No Hibernate ddl-auto</a:t>
            </a:r>
            <a:br/>
            <a:r>
              <a:t>No draw.io export</a:t>
            </a:r>
            <a:br/>
            <a:br/>
            <a:r>
              <a:t>You author SQL from Java fields.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SQL keywords — why they exist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CREATE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New place to store rows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IF NOT EXISTS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9456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Safe to re-run while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1752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54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NOT NULL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Column must have a 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01752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154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PRIMARY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52044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One unique id per 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UNIQUE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8463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No duplicates — idempotency safety 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343400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4805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FOREIGN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4846320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Must match parent table's PK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669279"/>
            <a:ext cx="5394960" cy="114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806439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D9488"/>
                </a:solidFill>
                <a:latin typeface="Consolas"/>
              </a:defRPr>
            </a:pPr>
            <a:r>
              <a:t>CREATE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172199"/>
            <a:ext cx="4937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Lato"/>
              </a:defRPr>
            </a:pPr>
            <a:r>
              <a:t>Faster lookups (reports, keys)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CREATE TABLE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44805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F8FAFC"/>
                </a:solidFill>
                <a:latin typeface="Consolas"/>
              </a:defRPr>
            </a:pPr>
            <a:r>
              <a:t>CREATE TABLE IF NOT EXISTS transaction_records (</a:t>
            </a:r>
            <a:br/>
            <a:r>
              <a:t>  id VARCHAR(64) NOT NULL,</a:t>
            </a:r>
            <a:br/>
            <a:r>
              <a:t>  idempotency_key VARCHAR(128) NOT NULL,</a:t>
            </a:r>
            <a:br/>
            <a:r>
              <a:t>  amount DOUBLE NOT NULL,</a:t>
            </a:r>
            <a:br/>
            <a:r>
              <a:t>  bank VARCHAR(64) NOT NULL,</a:t>
            </a:r>
            <a:br/>
            <a:r>
              <a:t>  transaction_timestamp TIMESTAMP NOT NULL,</a:t>
            </a:r>
            <a:br/>
            <a:r>
              <a:t>  status VARCHAR(32) NOT NULL,</a:t>
            </a:r>
            <a:br/>
            <a:r>
              <a:t>  created_at TIMESTAMP NOT NULL,</a:t>
            </a:r>
            <a:br/>
            <a:r>
              <a:t>  updated_at TIMESTAMP NOT NULL,</a:t>
            </a:r>
            <a:br/>
            <a:r>
              <a:t>  CONSTRAINT pk_transaction_records</a:t>
            </a:r>
            <a:br/>
            <a:r>
              <a:t>    PRIMARY KEY (id),</a:t>
            </a:r>
            <a:br/>
            <a:r>
              <a:t>  CONSTRAINT uq_idempotency</a:t>
            </a:r>
            <a:br/>
            <a:r>
              <a:t>    UNIQUE (idempotency_key)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722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Lato"/>
              </a:defRPr>
            </a:pPr>
            <a:r>
              <a:t>Full version with comments: schema-v1.sql in this folder.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Waiting for the ERD before writing SQL — classes are enough.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Forgetting UNIQUE on idempotency_key — duplicate retries could double-post.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Storing a Java object in one column — flatten or use FK.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Spaces in table names — use snake_case (transaction_records).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Naming columns from the diagram without checking .java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Checkpoint — 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  <a:defRPr sz="2200" b="0">
                <a:solidFill>
                  <a:srgbClr val="FFFFFF"/>
                </a:solidFill>
                <a:latin typeface="Lato"/>
              </a:defRPr>
            </a:pPr>
            <a:r>
              <a:t>What is a migration in your own words?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Lato"/>
              </a:defRPr>
            </a:pPr>
            <a:r>
              <a:t>Why UNIQUE (idempotency_key)?</a:t>
            </a:r>
          </a:p>
          <a:p>
            <a:pPr>
              <a:spcAft>
                <a:spcPts val="1800"/>
              </a:spcAft>
              <a:defRPr sz="2200">
                <a:solidFill>
                  <a:srgbClr val="FFFFFF"/>
                </a:solidFill>
                <a:latin typeface="Lato"/>
              </a:defRPr>
            </a:pPr>
            <a:r>
              <a:t>Where will this SQL live in the repo for Capstone 4?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Apply the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D9488"/>
                </a:solidFill>
                <a:latin typeface="Consolas"/>
              </a:defRPr>
            </a:pPr>
            <a:r>
              <a:t>jdbc:h2:file:./data/paynest  →  files under ./data/ (gitignored)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Lato"/>
              </a:defRPr>
            </a:pPr>
            <a:r>
              <a:t>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4884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SQL text (schema-v1.sql or H2Schema constant)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Lato"/>
              </a:defRPr>
            </a:pPr>
            <a: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2608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Java opens JDBC 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Lato"/>
              </a:defRPr>
            </a:pPr>
            <a: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70332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Execute CREATE TABLE statements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Lato"/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H2 writes files to ./data/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D9488"/>
                </a:solidFill>
                <a:latin typeface="Lato"/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5257800"/>
            <a:ext cx="9601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Tables exist — empty until INSERT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623560"/>
            <a:ext cx="1088136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742432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Lato"/>
              </a:defRPr>
            </a:pPr>
            <a:r>
              <a:t>Run DDL once at startup — not on every save.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JDBC sketch (learning 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29260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42416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8FAFC"/>
                </a:solidFill>
                <a:latin typeface="Consolas"/>
              </a:defRPr>
            </a:pPr>
            <a:r>
              <a:t>Connection conn = DriverManager.getConnection(</a:t>
            </a:r>
            <a:br/>
            <a:r>
              <a:t>    "jdbc:h2:file:./data/paynest", "sa", "");</a:t>
            </a:r>
            <a:br/>
            <a:r>
              <a:t>try (conn; Statement stmt = conn.createStatement()) {</a:t>
            </a:r>
            <a:br/>
            <a:r>
              <a:t>    stmt.execute(H2Schema.CREATE_TRANSACTION_RECORDS);</a:t>
            </a:r>
            <a:br/>
            <a:r>
              <a:t>    // ... other DDL ...</a:t>
            </a:r>
            <a:br/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54880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475569"/>
                </a:solidFill>
                <a:latin typeface="Lato"/>
              </a:defRPr>
            </a:pPr>
            <a:r>
              <a:t>sa / empty password = local H2 default for teaching only.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try-with-resources closes the connection.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Verify: metadata query, H2 console, or INSERT + SELECT.</a:t>
            </a:r>
          </a:p>
          <a:p>
            <a:pPr>
              <a:spcAft>
                <a:spcPts val="600"/>
              </a:spcAft>
              <a:defRPr sz="1600">
                <a:solidFill>
                  <a:srgbClr val="475569"/>
                </a:solidFill>
                <a:latin typeface="Lato"/>
              </a:defRPr>
            </a:pPr>
            <a:r>
              <a:t>“Table not found” → DDL not applied or wrong DB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Talk to tables from Java (preview)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Interface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Today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Capstone 4+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TransactionRecordStore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InMemory* today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JDBC INSERT/SELECT → transaction_records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IdempotencyRegistry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UNIQUE key + lookup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AiDecisionStore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ai_decision_records (Capstone 5)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4572000"/>
            <a:ext cx="10881360" cy="123444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Lato"/>
              </a:defRPr>
            </a:pPr>
            <a:r>
              <a:t>Round trip: Customer.name → customers.name → ResultSet.getString("name")</a:t>
            </a:r>
            <a:br/>
            <a:r>
              <a:t>Steps 1–2 = class → column. Capstone 4 = full save/load + pipeline.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Reset the schema (local wipe)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943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475569"/>
                </a:solidFill>
                <a:latin typeface="Lato"/>
              </a:defRPr>
            </a:pPr>
            <a:r>
              <a:t>1. Stop app / Maven (release DB lock)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2. Delete ./data/paynest.mv.db (and related H2 files)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3. Restart → Step 3 re-runs DDL</a:t>
            </a:r>
          </a:p>
          <a:p>
            <a:pPr>
              <a:spcAft>
                <a:spcPts val="600"/>
              </a:spcAft>
              <a:defRPr sz="1700">
                <a:solidFill>
                  <a:srgbClr val="475569"/>
                </a:solidFill>
                <a:latin typeface="Lato"/>
              </a:defRPr>
            </a:pPr>
            <a:r>
              <a:t>4. Re-run tests that need a clean store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828800"/>
            <a:ext cx="4663440" cy="32004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  <a:latin typeface="Poppins"/>
              </a:defRPr>
            </a:pPr>
            <a:r>
              <a:t>Learning vs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651760"/>
            <a:ext cx="41148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F8FAFC"/>
                </a:solidFill>
                <a:latin typeface="Lato"/>
              </a:defRPr>
            </a:pPr>
            <a:r>
              <a:t>Wipe + recreate: fine on student laptop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Lato"/>
              </a:defRPr>
            </a:pPr>
            <a:r>
              <a:t>Later: schema-v2.sql with ALTER TABLE</a:t>
            </a:r>
          </a:p>
          <a:p>
            <a:pPr>
              <a:spcAft>
                <a:spcPts val="600"/>
              </a:spcAft>
              <a:defRPr sz="1400">
                <a:solidFill>
                  <a:srgbClr val="F8FAFC"/>
                </a:solidFill>
                <a:latin typeface="Lato"/>
              </a:defRPr>
            </a:pPr>
            <a:r>
              <a:t>Never delete DB files while connection is open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  <a:latin typeface="Poppins"/>
              </a:defRPr>
            </a:pPr>
            <a: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Poppins"/>
              </a:defRPr>
            </a:pPr>
            <a:r>
              <a:t>What we are not using (yet)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400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Elsewhere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PayNest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Spring ddl-auto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Auto tables from entities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Not required here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Flyway / Liquibase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Numbered migration runners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Same SQL later if approved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JPA / Hibernate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Annotations map class ↔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Plain JDBC in Capstone 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.NET EF migrations add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Generates migration from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You write SQL manually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120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  <a:latin typeface="Lato"/>
              </a:defRPr>
            </a:pPr>
            <a:r>
              <a:t>Hard part you are learning: clear DDL from a domain model. Runners are optional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475569"/>
                </a:solidFill>
                <a:latin typeface="Lato"/>
              </a:defRPr>
            </a:pPr>
            <a:r>
              <a:t>PayNest · Live session 2026-07-16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Poppins"/>
              </a:defRPr>
            </a:pPr>
            <a:r>
              <a:t>Lab &amp;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F8FAFC"/>
                </a:solidFill>
                <a:latin typeface="Lato"/>
              </a:defRPr>
            </a:pPr>
            <a:r>
              <a:t>List fields in TransactionRecord.java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Lato"/>
              </a:defRPr>
            </a:pPr>
            <a:r>
              <a:t>Draft CREATE TABLE + 3 constraints on paper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Lato"/>
              </a:defRPr>
            </a:pPr>
            <a:r>
              <a:t>Compare to schema-v1.sql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Lato"/>
              </a:defRPr>
            </a:pPr>
            <a:r>
              <a:t>Explain UNIQUE idempotency (duplicate webhook story)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Lato"/>
              </a:defRPr>
            </a:pPr>
            <a:r>
              <a:t>Write wipe runbook from memory</a:t>
            </a:r>
          </a:p>
          <a:p>
            <a:pPr>
              <a:spcAft>
                <a:spcPts val="1000"/>
              </a:spcAft>
              <a:defRPr sz="1800">
                <a:solidFill>
                  <a:srgbClr val="F8FAFC"/>
                </a:solidFill>
                <a:latin typeface="Lato"/>
              </a:defRPr>
            </a:pPr>
            <a:r>
              <a:t>Optional: open paynest-erd.drawio — match boxes to classes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5394960"/>
            <a:ext cx="10881360" cy="77724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ato"/>
              </a:defRPr>
            </a:pPr>
            <a:r>
              <a:t>Step 1 domain → Step 2 migrations → Step 3 apply → stores &amp; wipe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