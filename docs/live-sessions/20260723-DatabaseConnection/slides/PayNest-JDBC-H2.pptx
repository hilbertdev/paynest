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7A6B"/>
                </a:solidFill>
                <a:latin typeface="Calibri"/>
              </a:rPr>
              <a:t>PayNest live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JDBC with H2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alibri"/>
              </a:rPr>
              <a:t>Connect · Create a table · Insert ·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C7D1"/>
                </a:solidFill>
                <a:latin typeface="Calibri"/>
              </a:rPr>
              <a:t>23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What you will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70"/>
                </a:solidFill>
                <a:latin typeface="Calibri"/>
              </a:rPr>
              <a:t>Four practical database steps in Java.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0972800" cy="347472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1. Open a JDBC connection to H2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2. Create a table with CREATE TABLE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3. Insert rows with PreparedStatement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4. Query rows with SELECT + ResultSet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5. Inspect the same data in DBeaver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What is H2?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70"/>
                </a:solidFill>
                <a:latin typeface="Calibri"/>
              </a:rPr>
              <a:t>A small relational database that runs with your Java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03520" cy="347472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Stores tables and rows like other SQL databases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Can keep data in a local file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Already on the PayNest Maven classpath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Ideal for learning JDBC quickly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303520" cy="34747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Tools for this session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DBeaver to browse tables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Java DriverManager to connect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Not pgAdmin (Postgres only)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ON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Two files under data/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70"/>
                </a:solidFill>
                <a:latin typeface="Calibri"/>
              </a:rPr>
              <a:t>Only one of them is the real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03520" cy="347472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paynest.mv.db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The real database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Tables and rows live here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Connect DBeaver to this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303520" cy="34747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paynest.trace.db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SQL debug / trace log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Created with TRACE_LEVEL_FILE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Do not open this as the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Create a database connection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72800" cy="20116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String url = "jdbc:h2:file:./data/paynest;AUTO_SERVER=TRUE;TRACE_LEVEL_FILE=3";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Connection connection = DriverManager.getConnection(url);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10972800" cy="164592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file: = durable on disk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AUTO_SERVER=TRUE = share the file with DBeaver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TRACE_LEVEL_FILE=3 = write data/paynest.trace.db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Create a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72800" cy="3474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CREATE TABLE IF NOT EXISTS products (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id    INT PRIMARY KEY,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name  VARCHAR(100) NOT NULL,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price DOUBLE NOT NULL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Insert data safely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72800" cy="2926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PreparedStatement insert = connection.prepareStatement(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"INSERT INTO products (id, name, price) VALUES (?, ?, ?)");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insert.setInt(1, 1);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insert.setString(2, "Laptop");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insert.setDouble(3, 12000);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insert.executeUpdate();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94960"/>
            <a:ext cx="10972800" cy="91440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Use ? placeholders — never paste raw values into SQL strings.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Query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72800" cy="3474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ResultSet rows = statement.executeQuery(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"SELECT id, name, price FROM products ORDER BY id");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while (rows.next()) {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int id = rows.getInt("id");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String name = rows.getString("name");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  double price = rows.getDouble("price");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One place to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70"/>
                </a:solidFill>
                <a:latin typeface="Calibri"/>
              </a:rPr>
              <a:t>All four steps are in PayNestApplication.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0972800" cy="347472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File: src/main/java/com/paynestsystem/app/PayNestApplication.java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Method: runJdbcDemo(...)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Run: mvn -q compile exec:java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Then in DBeaver: SELECT * FROM products;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Inspect with DBeaver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972800" cy="347472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1. New connection → H2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2. URL: jdbc:h2:file:/ABS/PATH/PayNest/data/paynest;AUTO_SERVER=TRUE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3. Test connection → Finish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4. Run: SELECT * FROM products ORDER BY id;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Tip: run the Java app once first so data/ and the table exist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7A6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A44"/>
                </a:solidFill>
                <a:latin typeface="Calibri"/>
              </a:rPr>
              <a:t>Remember the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51760" cy="292608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F7A6B"/>
                </a:solidFill>
                <a:latin typeface="Calibri"/>
              </a:rPr>
              <a:t>1</a:t>
            </a:r>
          </a:p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Connect</a:t>
            </a:r>
          </a:p>
          <a:p>
            <a:pPr algn="ctr"/>
            <a:r>
              <a:rPr sz="1300" b="0">
                <a:solidFill>
                  <a:srgbClr val="5A6470"/>
                </a:solidFill>
                <a:latin typeface="Calibri"/>
              </a:rPr>
              <a:t>DriverManager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468880"/>
            <a:ext cx="2651760" cy="292608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F7A6B"/>
                </a:solidFill>
                <a:latin typeface="Calibri"/>
              </a:rPr>
              <a:t>2</a:t>
            </a:r>
          </a:p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Create</a:t>
            </a:r>
          </a:p>
          <a:p>
            <a:pPr algn="ctr"/>
            <a:r>
              <a:rPr sz="1300" b="0">
                <a:solidFill>
                  <a:srgbClr val="5A6470"/>
                </a:solidFill>
                <a:latin typeface="Calibri"/>
              </a:rPr>
              <a:t>CREATE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2651760" cy="292608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F7A6B"/>
                </a:solidFill>
                <a:latin typeface="Calibri"/>
              </a:rPr>
              <a:t>3</a:t>
            </a:r>
          </a:p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Insert</a:t>
            </a:r>
          </a:p>
          <a:p>
            <a:pPr algn="ctr"/>
            <a:r>
              <a:rPr sz="1300" b="0">
                <a:solidFill>
                  <a:srgbClr val="5A6470"/>
                </a:solidFill>
                <a:latin typeface="Calibri"/>
              </a:rPr>
              <a:t>PreparedStatement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468880"/>
            <a:ext cx="2651760" cy="2926080"/>
          </a:xfrm>
          <a:prstGeom prst="roundRect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F7A6B"/>
                </a:solidFill>
                <a:latin typeface="Calibri"/>
              </a:rPr>
              <a:t>4</a:t>
            </a:r>
          </a:p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Query</a:t>
            </a:r>
          </a:p>
          <a:p>
            <a:pPr algn="ctr"/>
            <a:r>
              <a:rPr sz="1300" b="0">
                <a:solidFill>
                  <a:srgbClr val="5A6470"/>
                </a:solidFill>
                <a:latin typeface="Calibri"/>
              </a:rPr>
              <a:t>ResultSet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