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Object-Oriented Programming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14B8A6"/>
                </a:solidFill>
                <a:latin typeface="Poppins"/>
              </a:defRPr>
            </a:pPr>
            <a:r>
              <a:t>Preparing for Capstone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Lato"/>
              </a:defRPr>
            </a:pPr>
            <a:r>
              <a:t>PayNest checkout · interfaces · polymorphism</a:t>
            </a:r>
            <a:br/>
            <a:r>
              <a:t>Extend payment rails without rewriting order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30352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53035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766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What broke last time when one change forced edits in three files?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2000" b="0">
                <a:solidFill>
                  <a:srgbClr val="475569"/>
                </a:solidFill>
                <a:latin typeface="Lato"/>
              </a:defRPr>
            </a:pPr>
            <a:r>
              <a:t>Name the four pillars of OOP and why they exist</a:t>
            </a:r>
          </a:p>
          <a:p>
            <a:pPr>
              <a:spcAft>
                <a:spcPts val="1400"/>
              </a:spcAft>
              <a:defRPr sz="2000">
                <a:solidFill>
                  <a:srgbClr val="475569"/>
                </a:solidFill>
                <a:latin typeface="Lato"/>
              </a:defRPr>
            </a:pPr>
            <a:r>
              <a:t>Explain encapsulation using PayNest’s Order / Product</a:t>
            </a:r>
          </a:p>
          <a:p>
            <a:pPr>
              <a:spcAft>
                <a:spcPts val="1400"/>
              </a:spcAft>
              <a:defRPr sz="2000">
                <a:solidFill>
                  <a:srgbClr val="475569"/>
                </a:solidFill>
                <a:latin typeface="Lato"/>
              </a:defRPr>
            </a:pPr>
            <a:r>
              <a:t>Explain polymorphism using PaymentMethod</a:t>
            </a:r>
          </a:p>
          <a:p>
            <a:pPr>
              <a:spcAft>
                <a:spcPts val="1400"/>
              </a:spcAft>
              <a:defRPr sz="2000">
                <a:solidFill>
                  <a:srgbClr val="475569"/>
                </a:solidFill>
                <a:latin typeface="Lato"/>
              </a:defRPr>
            </a:pPr>
            <a:r>
              <a:t>See how polymorphism leads into SOLID (OCP, DIP)</a:t>
            </a:r>
          </a:p>
          <a:p>
            <a:pPr>
              <a:spcAft>
                <a:spcPts val="1400"/>
              </a:spcAft>
              <a:defRPr sz="2000">
                <a:solidFill>
                  <a:srgbClr val="475569"/>
                </a:solidFill>
                <a:latin typeface="Lato"/>
              </a:defRPr>
            </a:pPr>
            <a:r>
              <a:t>Sketch the Capstone 2 architecture before you write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Which outcome feels most unfamiliar right now?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Why Object-Oriented Programming?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6692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Real-world modelling — orders, customers, payments → objects</a:t>
            </a:r>
          </a:p>
          <a:p>
            <a:pPr>
              <a:spcAft>
                <a:spcPts val="12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Reusable code — calculateTotal() written once</a:t>
            </a:r>
          </a:p>
          <a:p>
            <a:pPr>
              <a:spcAft>
                <a:spcPts val="12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Easier maintenance — fix line rules in OrderItem</a:t>
            </a:r>
          </a:p>
          <a:p>
            <a:pPr>
              <a:spcAft>
                <a:spcPts val="12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Extensibility — add Wallet later without rewriting arithmetic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48463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371600"/>
            <a:ext cx="109728" cy="3291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55448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Poppins"/>
              </a:defRPr>
            </a:pPr>
            <a:r>
              <a:t>Analogy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011680"/>
            <a:ext cx="4297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A Nest thermostat: you press “heat.” You do not rewire the furnace each time.</a:t>
            </a:r>
            <a:br/>
            <a:br/>
            <a:r>
              <a:t>Stable contract · replaceable implementation.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In Capstone 1, what stayed stable when Mouse quantity became 2?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2 · THE FOUR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The Four Pillars (Preview)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5836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Pillar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One-line meaning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PayNest hint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Encapsulation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Hide internals; expose a safe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Order private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Abstraction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Show the essential contract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PaymentMethod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Inheritance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Share / specialise behaviour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Later: BasePaymentProvider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Polymorphism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One type, many behaviours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checkout(PaymentMethod)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Which pillar sounds like “a menu every rail must support”?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3 ·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Encapsulation — What Is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3035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Bundle data + behaviour, and control access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Fields hold state (price, items, quantity)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Methods define allowed operations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Callers use the public API, not the raw guts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98348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8FAFC"/>
                </a:solidFill>
                <a:latin typeface="Courier New"/>
              </a:defRPr>
            </a:pPr>
            <a:r>
              <a:t>public class Product {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private final int id;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private final String name;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private final double price;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public double getPrice() {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  return price;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Lato"/>
              </a:defRPr>
            </a:pPr>
            <a:r>
              <a:t>Why should we care? So nobody sets price = -999 mid-checkout.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Should a receipt printer change Product.price?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3 ·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Why private Fields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9728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6527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F8FAFC"/>
                </a:solidFill>
                <a:latin typeface="Courier New"/>
              </a:defRPr>
            </a:pPr>
            <a:r>
              <a:t>// Order.java</a:t>
            </a:r>
          </a:p>
          <a:p>
            <a:pPr>
              <a:spcAft>
                <a:spcPts val="200"/>
              </a:spcAft>
              <a:defRPr sz="1500">
                <a:solidFill>
                  <a:srgbClr val="F8FAFC"/>
                </a:solidFill>
                <a:latin typeface="Courier New"/>
              </a:defRPr>
            </a:pPr>
            <a:r>
              <a:t>private final int id;</a:t>
            </a:r>
          </a:p>
          <a:p>
            <a:pPr>
              <a:spcAft>
                <a:spcPts val="200"/>
              </a:spcAft>
              <a:defRPr sz="1500">
                <a:solidFill>
                  <a:srgbClr val="F8FAFC"/>
                </a:solidFill>
                <a:latin typeface="Courier New"/>
              </a:defRPr>
            </a:pPr>
            <a:r>
              <a:t>private final Customer customer;</a:t>
            </a:r>
          </a:p>
          <a:p>
            <a:pPr>
              <a:spcAft>
                <a:spcPts val="200"/>
              </a:spcAft>
              <a:defRPr sz="1500">
                <a:solidFill>
                  <a:srgbClr val="F8FAFC"/>
                </a:solidFill>
                <a:latin typeface="Courier New"/>
              </a:defRPr>
            </a:pPr>
            <a:r>
              <a:t>private final List&lt;OrderItem&gt; items;  // owned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Callers cannot order.items.clear()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They must use addItem(product, quantity)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Totals stay trustworthy — one mutation path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Why care? Broken totals = angry merchants and failed demos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What goes wrong if items is public?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3 ·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BAD Encapsulation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Lato"/>
              </a:defRPr>
            </a:pPr>
            <a:r>
              <a:t>Fake anti-pattern (not in PayNest — on purpose)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6583680" cy="3017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6263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8FAFC"/>
                </a:solidFill>
                <a:latin typeface="Courier New"/>
              </a:defRPr>
            </a:pPr>
            <a:r>
              <a:t>public class BadOrder {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public List&lt;OrderItem&gt; items = new ArrayList&lt;&gt;();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public double total;  // anyone can set this!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public void printSummary() {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  System.out.println("Total: R" + total);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40233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500" b="0">
                <a:solidFill>
                  <a:srgbClr val="475569"/>
                </a:solidFill>
                <a:latin typeface="Lato"/>
              </a:defRPr>
            </a:pPr>
            <a:r>
              <a:t>Caller can clear() items after totals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Caller can set total = 0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No single source of truth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Bugs hide in silent mutation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Worse: a wrong total, or a total that looks right but was hand-edited?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3 ·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GOOD Encapsulation (PayNest Order)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09728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5276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C"/>
                </a:solidFill>
                <a:latin typeface="Courier New"/>
              </a:defRPr>
            </a:pPr>
            <a:r>
              <a:t>public void addItem(Product product, int quantity) {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OrderItem orderItem = new OrderItem(product, quantity);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items.add(orderItem);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public List&lt;OrderItem&gt; getItems() {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return Collections.unmodifiableList(items);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public double calculateTotal() { /* sum line totals */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59669"/>
                </a:solidFill>
                <a:latin typeface="Lato"/>
              </a:defRPr>
            </a:pPr>
            <a:r>
              <a:t>Mutation only via addItem · read-only view outward · total is computed — never a free-floating field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Why unmodifiableList instead of the raw ArrayList?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3 ·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Quiz — Encapsulation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  <a:defRPr sz="2000" b="0">
                <a:solidFill>
                  <a:srgbClr val="475569"/>
                </a:solidFill>
                <a:latin typeface="Lato"/>
              </a:defRPr>
            </a:pPr>
            <a:r>
              <a:t>1. Why are Product fields private final?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Lato"/>
              </a:defRPr>
            </a:pPr>
            <a:r>
              <a:t>2. What happens if a caller add()s to order.getItems()?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Lato"/>
              </a:defRPr>
            </a:pPr>
            <a:r>
              <a:t>3. Where is quantity validated — Order or OrderItem?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Lato"/>
              </a:defRPr>
            </a:pPr>
            <a:r>
              <a:t>4. True/False: Getters always break encapsulation.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Encapsulation = “never share data,” or “share it safely”?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4 ·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From Protection to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800" b="0">
                <a:solidFill>
                  <a:srgbClr val="475569"/>
                </a:solidFill>
                <a:latin typeface="Lato"/>
              </a:defRPr>
            </a:pPr>
            <a:r>
              <a:t>Encapsulation protects an object’s state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Lato"/>
              </a:defRPr>
            </a:pPr>
            <a:r>
              <a:t>Capstone 2 asks something new…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108813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109728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Lato"/>
              </a:defRPr>
            </a:pPr>
            <a:r>
              <a:t>How do Card, EFT, and Wallet behave differently</a:t>
            </a:r>
            <a:br/>
            <a:r>
              <a:t>while checkout stays one reusable path?</a:t>
            </a:r>
            <a:br/>
            <a:br/>
            <a:r>
              <a:t>We need a contract every rail obeys — then swap the 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If you wrote if (type.equals("CARD"))…, what happens when BNPL arrives?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5 ·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Polymorphism —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  <a:defRPr sz="1700" b="0">
                <a:solidFill>
                  <a:srgbClr val="475569"/>
                </a:solidFill>
                <a:latin typeface="Lato"/>
              </a:defRPr>
            </a:pPr>
            <a:r>
              <a:t>Polymorphism = many forms</a:t>
            </a:r>
          </a:p>
          <a:p>
            <a:pPr>
              <a:spcAft>
                <a:spcPts val="12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One interface (shared contract)</a:t>
            </a:r>
          </a:p>
          <a:p>
            <a:pPr>
              <a:spcAft>
                <a:spcPts val="12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Many implementations (different behaviour)</a:t>
            </a:r>
          </a:p>
          <a:p>
            <a:pPr>
              <a:spcAft>
                <a:spcPts val="12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Callers program against the contract, not the concrete 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2120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89204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C"/>
                </a:solidFill>
                <a:latin typeface="Courier New"/>
              </a:defRPr>
            </a:pPr>
            <a:r>
              <a:t>PaymentMethod paymentMethod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  = new CardPayment();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order.checkout(paymentMethod);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// Same checkout works for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// EftPayment or WalletPayment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What type is the variable? What type is the object?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5 ·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Compile-Time vs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Kind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When decided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Capstone 2?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Compile-time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Before run (e.g. overloading)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Rarely the 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Runtime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During run (interface / override)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This is Capstone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3749039"/>
            <a:ext cx="1088136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86199"/>
            <a:ext cx="105613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C"/>
                </a:solidFill>
                <a:latin typeface="Courier New"/>
              </a:defRPr>
            </a:pPr>
            <a:r>
              <a:t>method.processPayment(amount);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// Compiler: method is a PaymentMethod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// JVM: picks Card / EFT / Wallet override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If the variable is PaymentMethod, how does Java print "CARD"?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5 ·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Interfaces — The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09728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5276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8FAFC"/>
                </a:solidFill>
                <a:latin typeface="Courier New"/>
              </a:defRPr>
            </a:pPr>
            <a:r>
              <a:t>// com.paynestsystem.payment.PaymentMethod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public interface PaymentMethod {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    boolean processPayment(double amount);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    String getPaymentType();</a:t>
            </a:r>
          </a:p>
          <a:p>
            <a:pPr>
              <a:spcAft>
                <a:spcPts val="200"/>
              </a:spcAft>
              <a:defRPr sz="16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Abstraction: process this Rand amount; name your rail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Small on purpose — easy to implement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Checkout depends on this, not Card/EFT/Wallet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Why two methods instead of one mega-method?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5 ·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Implementations — Many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6400800" cy="3291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608076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8FAFC"/>
                </a:solidFill>
                <a:latin typeface="Courier New"/>
              </a:defRPr>
            </a:pPr>
            <a:r>
              <a:t>public class CardPayment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      implements PaymentMethod {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@Override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public boolean processPayment(double amount) {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  return true; // simulated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@Override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public String getPaymentType() {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  return "CARD";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371600"/>
            <a:ext cx="393192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481328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«interface» PaymentMethod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377440"/>
            <a:ext cx="3931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487168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CardPayment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063240"/>
            <a:ext cx="3931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3172968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EftPayment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749039"/>
            <a:ext cx="3931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858767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WalletPayment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434840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Same shape · different labels</a:t>
            </a:r>
            <a:br/>
            <a:r>
              <a:t>No extends between rails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Related by extends? Why or why not?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5 ·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Dynamic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JVM chooses the override at runtime.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65276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C"/>
                </a:solidFill>
                <a:latin typeface="Courier New"/>
              </a:defRPr>
            </a:pPr>
            <a:r>
              <a:t>// PaymentProcessor.java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public void processPayment(PaymentMethod method, double amount) {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  boolean success = method.processPayment(amount);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  if (success) {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      System.out.println("Payment successful via "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          + method.getPaymentType());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Lato"/>
              </a:defRPr>
            </a:pPr>
            <a:r>
              <a:t>Never mentions CardPayment · swap the object → swap the behaviour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Where would an if/else anti-pattern have lived instead?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5 ·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Why Checkout Only Needs PaymentMethod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6583680" cy="3108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626364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8FAFC"/>
                </a:solidFill>
                <a:latin typeface="Courier New"/>
              </a:defRPr>
            </a:pPr>
            <a:r>
              <a:t>public void checkout(PaymentMethod paymentMethod) {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double total = calculateTotal();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PaymentProcessor processor =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    new PaymentProcessor();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  processor.processPayment(paymentMethod, total);</a:t>
            </a:r>
          </a:p>
          <a:p>
            <a:pPr>
              <a:spcAft>
                <a:spcPts val="200"/>
              </a:spcAft>
              <a:defRPr sz="13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71600"/>
            <a:ext cx="384048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8132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148840"/>
            <a:ext cx="384048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25856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PaymentProcessor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926080"/>
            <a:ext cx="3840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303580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PaymentMethod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703320"/>
            <a:ext cx="3840480" cy="5486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81304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Card / EFT / Wallet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What changes when we add BuyNowPayLaterPayment?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5 ·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Polymorphism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88136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613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F8FAFC"/>
                </a:solidFill>
                <a:latin typeface="Courier New"/>
              </a:defRPr>
            </a:pPr>
            <a:r>
              <a:t>// PayNestApplication — Capstone 2 block</a:t>
            </a:r>
          </a:p>
          <a:p>
            <a:pPr>
              <a:spcAft>
                <a:spcPts val="200"/>
              </a:spcAft>
              <a:defRPr sz="1500">
                <a:solidFill>
                  <a:srgbClr val="F8FAFC"/>
                </a:solidFill>
                <a:latin typeface="Courier New"/>
              </a:defRPr>
            </a:pPr>
            <a:r>
              <a:t>PaymentMethod paymentMethod = new CardPayment();</a:t>
            </a:r>
          </a:p>
          <a:p>
            <a:pPr>
              <a:spcAft>
                <a:spcPts val="200"/>
              </a:spcAft>
              <a:defRPr sz="1500">
                <a:solidFill>
                  <a:srgbClr val="F8FAFC"/>
                </a:solidFill>
                <a:latin typeface="Courier New"/>
              </a:defRPr>
            </a:pPr>
            <a:r>
              <a:t>order.checkout(paymentMethod);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10896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Construction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Type label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Checkout edits?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new CardPayment()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new EftPayment()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EFT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new WalletPayment()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WALLET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85216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85216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Is polymorphism in the construction line or the checkout line?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5 ·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Quick Check — Polymorphism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1900" b="0">
                <a:solidFill>
                  <a:srgbClr val="475569"/>
                </a:solidFill>
                <a:latin typeface="Lato"/>
              </a:defRPr>
            </a:pPr>
            <a:r>
              <a:t>1. What keyword links CardPayment to PaymentMethod?</a:t>
            </a:r>
          </a:p>
          <a:p>
            <a:pPr>
              <a:spcAft>
                <a:spcPts val="1400"/>
              </a:spcAft>
              <a:defRPr sz="1900">
                <a:solidFill>
                  <a:srgbClr val="475569"/>
                </a:solidFill>
                <a:latin typeface="Lato"/>
              </a:defRPr>
            </a:pPr>
            <a:r>
              <a:t>2. Can PaymentProcessor compile if CryptoPayment does not exist yet?</a:t>
            </a:r>
          </a:p>
          <a:p>
            <a:pPr>
              <a:spcAft>
                <a:spcPts val="1400"/>
              </a:spcAft>
              <a:defRPr sz="1900">
                <a:solidFill>
                  <a:srgbClr val="475569"/>
                </a:solidFill>
                <a:latin typeface="Lato"/>
              </a:defRPr>
            </a:pPr>
            <a:r>
              <a:t>3. True/False: Polymorphism requires extends.</a:t>
            </a:r>
          </a:p>
          <a:p>
            <a:pPr>
              <a:spcAft>
                <a:spcPts val="1400"/>
              </a:spcAft>
              <a:defRPr sz="1900">
                <a:solidFill>
                  <a:srgbClr val="475569"/>
                </a:solidFill>
                <a:latin typeface="Lato"/>
              </a:defRPr>
            </a:pPr>
            <a:r>
              <a:t>4. Name the runtime mechanism that picks the override.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Why is “False” on Q3 important for Capstone 2?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6 ·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Mechanism vs Design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Design principle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What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Language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Guidance for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Polymorphism, interfaces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SOLID (OCP, DIP, …)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How behaviour varies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How to organise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206240"/>
            <a:ext cx="108813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206240"/>
            <a:ext cx="10972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348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Lato"/>
              </a:defRPr>
            </a:pPr>
            <a:r>
              <a:t>Polymorphism is NOT a SOLID principle.</a:t>
            </a:r>
            <a:br/>
            <a:r>
              <a:t>It is the mechanism that enables several SOLID principles.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Can you follow OCP without polymorphism? How painful?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6 ·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Open/Closed Principle (OCP)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6692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  <a:defRPr sz="1700" b="0">
                <a:solidFill>
                  <a:srgbClr val="475569"/>
                </a:solidFill>
                <a:latin typeface="Lato"/>
              </a:defRPr>
            </a:pPr>
            <a:r>
              <a:t>Open for extension · Closed for modification</a:t>
            </a:r>
          </a:p>
          <a:p>
            <a:pPr>
              <a:spcAft>
                <a:spcPts val="12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Add BuyNowPayLaterPayment → new class</a:t>
            </a:r>
          </a:p>
          <a:p>
            <a:pPr>
              <a:spcAft>
                <a:spcPts val="12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Do not rewrite calculateTotal() or processor logic</a:t>
            </a:r>
          </a:p>
          <a:p>
            <a:pPr>
              <a:spcAft>
                <a:spcPts val="12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Polymorphism is how OCP becomes real in Java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25880"/>
            <a:ext cx="48463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087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Poppins"/>
              </a:defRPr>
            </a:pPr>
            <a:r>
              <a:t>Closed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965960"/>
            <a:ext cx="42976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075688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560320"/>
            <a:ext cx="42976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670048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PaymentProcessor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2004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Poppins"/>
              </a:defRPr>
            </a:pPr>
            <a:r>
              <a:t>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611880"/>
            <a:ext cx="429768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721608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+ BuyNowPayLaterPayment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Which files must change for BNPL? Which must not?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6 ·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Dependency Inversion (DIP Preview)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Lato"/>
              </a:defRPr>
            </a:pPr>
            <a:r>
              <a:t>Depend on abstractions, not concretions.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9728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1065276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C"/>
                </a:solidFill>
                <a:latin typeface="Courier New"/>
              </a:defRPr>
            </a:pPr>
            <a:r>
              <a:t>// Good — Capstone 2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public void checkout(PaymentMethod paymentMethod) { ... }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// Weaker — honest look at PayNest today</a:t>
            </a:r>
          </a:p>
          <a:p>
            <a:pPr>
              <a:spcAft>
                <a:spcPts val="200"/>
              </a:spcAft>
              <a:defRPr sz="1400">
                <a:solidFill>
                  <a:srgbClr val="F8FAFC"/>
                </a:solidFill>
                <a:latin typeface="Courier New"/>
              </a:defRPr>
            </a:pPr>
            <a:r>
              <a:t>PaymentProcessor processor = new PaymentProcessor();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Celebrate the PaymentMethod dependency; later capstones push more behind interfaces.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Why depend on PaymentMethod instead of CardPayment?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6 ·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Polymorphism Enables SOLID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5176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265176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D9488"/>
                </a:solidFill>
                <a:latin typeface="Poppins"/>
              </a:defRPr>
            </a:pPr>
            <a:r>
              <a:t>OCP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2377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Lato"/>
              </a:defRPr>
            </a:pPr>
            <a:r>
              <a:t>Open/Closed</a:t>
            </a:r>
            <a:br/>
            <a:r>
              <a:t>new rail = new 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65176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265176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7373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D9488"/>
                </a:solidFill>
                <a:latin typeface="Poppins"/>
              </a:defRPr>
            </a:pPr>
            <a:r>
              <a:t>DIP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377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Lato"/>
              </a:defRPr>
            </a:pPr>
            <a:r>
              <a:t>Dependency Inversion</a:t>
            </a:r>
            <a:br/>
            <a:r>
              <a:t>depend on PaymentMethod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65176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265176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373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D9488"/>
                </a:solidFill>
                <a:latin typeface="Poppins"/>
              </a:defRPr>
            </a:pPr>
            <a:r>
              <a:t>LSP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2377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Lato"/>
              </a:defRPr>
            </a:pPr>
            <a:r>
              <a:t>Liskov Substitution</a:t>
            </a:r>
            <a:br/>
            <a:r>
              <a:t>any rail works in checkout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65176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265176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7373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D9488"/>
                </a:solidFill>
                <a:latin typeface="Poppins"/>
              </a:defRPr>
            </a:pPr>
            <a:r>
              <a:t>SRP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377440"/>
            <a:ext cx="2377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Lato"/>
              </a:defRPr>
            </a:pPr>
            <a:r>
              <a:t>Single Responsibility</a:t>
            </a:r>
            <a:br/>
            <a:r>
              <a:t>Order totals vs rail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Lato"/>
              </a:defRPr>
            </a:pPr>
            <a:r>
              <a:t>Polymorphism ≠ SOLID · Capstone 2 grades architecture &amp; polymorphism heavily (25%)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Which SOLID letter matches “add a rail without rewriting order logic”?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7 · CAPSTONE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Capstone 2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228600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PayNestApplication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463040"/>
            <a:ext cx="228600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57276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463040"/>
            <a:ext cx="228600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57276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PaymentProcessor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63040"/>
            <a:ext cx="228600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7276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PaymentMethod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55448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475569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55448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475569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55448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475569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743200"/>
            <a:ext cx="228600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285292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CardPayment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2743200"/>
            <a:ext cx="228600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85292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EftPayment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743200"/>
            <a:ext cx="228600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85292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oppins"/>
              </a:defRPr>
            </a:pPr>
            <a:r>
              <a:t>WalletPayment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576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Order — lines, totals, starts checkout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PaymentProcessor — talks to any rail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PaymentMethod — the contract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Card / EFT / Wallet — concrete rails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Where does the charged amount come from — rail or order?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7 · CAPSTONE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Extending Without Rewriting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0881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9728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Lato"/>
              </a:defRPr>
            </a:pPr>
            <a:r>
              <a:t>New rail = new class + wiring,</a:t>
            </a:r>
            <a:br/>
            <a:r>
              <a:t>not editing Order’s core arithmetic.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0515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475569"/>
                </a:solidFill>
                <a:latin typeface="Lato"/>
              </a:defRPr>
            </a:pPr>
            <a:r>
              <a:t>1. BuyNowPayLaterPayment implements PaymentMethod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2. Wire in PayNestApplication (or a test)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3. Leave calculateTotal() alone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4. Leave PaymentProcessor alone (if it only uses the interface)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That is OCP powered by polymorphism.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Would a giant switch (type) inside Order pass distinction?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PART 7 · CAPSTONE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What You Should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  <a:defRPr sz="1700" b="0">
                <a:solidFill>
                  <a:srgbClr val="475569"/>
                </a:solidFill>
                <a:latin typeface="Lato"/>
              </a:defRPr>
            </a:pPr>
            <a:r>
              <a:t>Encapsulation protects totals (private, addItem, unmodifiable views)</a:t>
            </a:r>
          </a:p>
          <a:p>
            <a:pPr>
              <a:spcAft>
                <a:spcPts val="12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Interfaces define payment contracts without payment details</a:t>
            </a:r>
          </a:p>
          <a:p>
            <a:pPr>
              <a:spcAft>
                <a:spcPts val="12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Polymorphism keeps checkout stable while rails vary</a:t>
            </a:r>
          </a:p>
          <a:p>
            <a:pPr>
              <a:spcAft>
                <a:spcPts val="12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OCP / DIP = design goals; polymorphism = Java mechanism</a:t>
            </a:r>
          </a:p>
          <a:p>
            <a:pPr>
              <a:spcAft>
                <a:spcPts val="12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Success test: new rail, minimal edits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Lato"/>
              </a:defRPr>
            </a:pPr>
            <a:r>
              <a:t>Same order total everywhere; only the payment rail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806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795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Discussion: Explain Capstone 2 in one sentence to a classmate who missed today.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Live Coding Plan (20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00891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File(s)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0–3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Run C1 summary + C2 checkout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PayNestApplication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3–7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Break encapsulation (getItems().add)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Order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7–11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if/else anti-pattern (scratch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(do not commit)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11–15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PaymentMethod + three rails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payment/*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15–18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Swap Card → 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PayNestApplication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18–20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Sketch BNPL; list files touched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whiteboard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Student Exercises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1800" b="0">
                <a:solidFill>
                  <a:srgbClr val="475569"/>
                </a:solidFill>
                <a:latin typeface="Lato"/>
              </a:defRPr>
            </a:pPr>
            <a:r>
              <a:t>Trace the call stack from main to CardPayment.processPayment</a:t>
            </a:r>
          </a:p>
          <a:p>
            <a:pPr>
              <a:spcAft>
                <a:spcPts val="1400"/>
              </a:spcAft>
              <a:defRPr sz="1800">
                <a:solidFill>
                  <a:srgbClr val="475569"/>
                </a:solidFill>
                <a:latin typeface="Lato"/>
              </a:defRPr>
            </a:pPr>
            <a:r>
              <a:t>Predict the exception from order.getItems().clear()</a:t>
            </a:r>
          </a:p>
          <a:p>
            <a:pPr>
              <a:spcAft>
                <a:spcPts val="1400"/>
              </a:spcAft>
              <a:defRPr sz="1800">
                <a:solidFill>
                  <a:srgbClr val="475569"/>
                </a:solidFill>
                <a:latin typeface="Lato"/>
              </a:defRPr>
            </a:pPr>
            <a:r>
              <a:t>List three if/else payment designs and why each fails OCP</a:t>
            </a:r>
          </a:p>
          <a:p>
            <a:pPr>
              <a:spcAft>
                <a:spcPts val="1400"/>
              </a:spcAft>
              <a:defRPr sz="1800">
                <a:solidFill>
                  <a:srgbClr val="475569"/>
                </a:solidFill>
                <a:latin typeface="Lato"/>
              </a:defRPr>
            </a:pPr>
            <a:r>
              <a:t>Pair: add a console line in each rail naming rail + amount</a:t>
            </a:r>
          </a:p>
          <a:p>
            <a:pPr>
              <a:spcAft>
                <a:spcPts val="1400"/>
              </a:spcAft>
              <a:defRPr sz="1800">
                <a:solidFill>
                  <a:srgbClr val="475569"/>
                </a:solidFill>
                <a:latin typeface="Lato"/>
              </a:defRPr>
            </a:pPr>
            <a:r>
              <a:t>Test sketch: JUnit outline for two rails’ getPaymentType()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APPENDIX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Common Misconceptions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Misconception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Reality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Interfaces are “enterprise only”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Capstone 2 is 1 interface + 3 small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Polymorphism requires extends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implements is enough — preferred here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Getters break encapsulation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Uncontrolled mutation breaks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Polymorphism is a SOLID principle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It is a mechanism; SOLID are principles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Order should know card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Rails own rail details; Order owns totals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BNPL means editing PaymentProcessor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Only if you hard-coded card logic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APPENDIX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Quiz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1. Quote the two methods on PaymentMethod.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2. Why does Order.getItems() use unmodifiableList?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3. In PaymentMethod m = new WalletPayment(); — variable type? object type?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4. Dynamic dispatch in one sentence (PaymentProcessor).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5. One OCP-friendly change and one OCP-breaking change for a new rail.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6. Is new PaymentProcessor() inside Order ideal DIP? Why/why not?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7. Capstone rubric question about BNPL — what do reviewers ask?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APPENDIX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Homework (before Capstone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Read docs/assessments/capstone-02-payment-methods.md end-to-end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Draw: PaymentMethod ← Card / EFT / Wallet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One paragraph: why interfaces beat a mega-method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Run mvn test and mvn exec:java; note the payment lines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Stretch: draft BuyNowPayLaterPayment locally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Stretch: sketch a test that checkouts with two different rails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Bring: diagram + “files changed for BNPL” list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PayNest Source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OOP Foundations · Capstone 2 Prep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Path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Demo wiring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app/PayNestApplication.java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Encapsulation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domain/Order.java, OrderItem, Product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payment/PaymentMethod.java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Rails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CardPayment, EftPayment, WalletPayment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payment/PaymentProcessor.java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Brief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Lato"/>
                        </a:defRPr>
                      </a:pPr>
                      <a:r>
                        <a:t>docs/assessments/capstone-02-payment-methods.md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