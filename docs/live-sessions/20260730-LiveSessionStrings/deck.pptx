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embeddedFontLst>
    <p:embeddedFont>
      <p:font typeface="JetBrains Mono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06425"/>
            <a:ext cx="105664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54000"/>
            <a:ext cx="1270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762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1 / 7</a:t>
            </a:r>
          </a:p>
        </p:txBody>
      </p:sp>
      <p:sp>
        <p:nvSpPr>
          <p:cNvPr id="6" name="Oval 5"/>
          <p:cNvSpPr/>
          <p:nvPr/>
        </p:nvSpPr>
        <p:spPr>
          <a:xfrm>
            <a:off x="11074400" y="1358900"/>
            <a:ext cx="76200" cy="762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952500"/>
            <a:ext cx="6350000" cy="152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 i="0" u="none">
                <a:solidFill>
                  <a:srgbClr val="F1F4F2"/>
                </a:solidFill>
                <a:latin typeface="Newsreader"/>
              </a:rPr>
              <a:t>Java follows strict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 i="0" u="none">
                <a:solidFill>
                  <a:srgbClr val="F1F4F2"/>
                </a:solidFill>
                <a:latin typeface="Newsreader"/>
              </a:rPr>
              <a:t>grammar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730500"/>
            <a:ext cx="4826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AEBCB6"/>
                </a:solidFill>
                <a:latin typeface="Outfit"/>
              </a:rPr>
              <a:t>Just like a sentence needs grammar to make sense, Java code needs the right structure to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3020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Outfit"/>
              </a:rPr>
              <a:t>•  Think of syntax as language grammar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6195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Outfit"/>
              </a:rPr>
              <a:t>•  Classes are like book chapters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39370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Outfit"/>
              </a:rPr>
              <a:t>•  Braces {} group related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42545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Outfit"/>
              </a:rPr>
              <a:t>•  Semicolons act like periods in sentences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730500"/>
            <a:ext cx="4902200" cy="2667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31000" y="2959100"/>
            <a:ext cx="43942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JetBrains Mono"/>
              </a:rPr>
              <a:t>class Greeting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3225800"/>
            <a:ext cx="4191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2BEA3"/>
                </a:solidFill>
                <a:latin typeface="JetBrains Mono"/>
              </a:rPr>
              <a:t>public static void main(String[] args)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0" y="3492500"/>
            <a:ext cx="3937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JetBrains Mono"/>
              </a:rPr>
              <a:t>System.out.println("Hello, Java!");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3759200"/>
            <a:ext cx="635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2BEA3"/>
                </a:solidFill>
                <a:latin typeface="JetBrains Mono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0" y="4025900"/>
            <a:ext cx="635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JetBrains Mon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1000" y="4572000"/>
            <a:ext cx="4394200" cy="508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AEBCB6"/>
                </a:solidFill>
                <a:latin typeface="Outfit"/>
              </a:rPr>
              <a:t>Every brace, semicolon, and keyword has a job — get the grammar right, and Java understands you.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1250" y="793750"/>
            <a:ext cx="63500" cy="635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0" y="606425"/>
            <a:ext cx="105664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254000"/>
            <a:ext cx="1905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5000" y="254000"/>
            <a:ext cx="5842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2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1333500"/>
            <a:ext cx="355600" cy="38100"/>
          </a:xfrm>
          <a:prstGeom prst="rect">
            <a:avLst/>
          </a:prstGeom>
          <a:solidFill>
            <a:srgbClr val="E77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1524000"/>
            <a:ext cx="5080000" cy="152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0" i="0" u="none">
                <a:solidFill>
                  <a:srgbClr val="F1F4F2"/>
                </a:solidFill>
                <a:latin typeface="Newsreader"/>
              </a:rPr>
              <a:t>Printing is how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0" i="0" u="none">
                <a:solidFill>
                  <a:srgbClr val="F1F4F2"/>
                </a:solidFill>
                <a:latin typeface="Newsreader"/>
              </a:rPr>
              <a:t>Java talks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2258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2BEA3"/>
                </a:solidFill>
                <a:latin typeface="Outfit"/>
              </a:rPr>
              <a:t>Think of it like a megaphone for your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644900"/>
            <a:ext cx="50800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AEBCB6"/>
                </a:solidFill>
                <a:latin typeface="Outfit"/>
              </a:rPr>
              <a:t>System.out.println is the megaphone.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" y="4191000"/>
            <a:ext cx="25400" cy="279400"/>
          </a:xfrm>
          <a:prstGeom prst="rect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4191000"/>
            <a:ext cx="4572000" cy="279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System.out.println to show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572000"/>
            <a:ext cx="25400" cy="279400"/>
          </a:xfrm>
          <a:prstGeom prst="rect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4572000"/>
            <a:ext cx="4572000" cy="279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Code runs exactly as written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4953000"/>
            <a:ext cx="25400" cy="279400"/>
          </a:xfrm>
          <a:prstGeom prst="rect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5200" y="4953000"/>
            <a:ext cx="4572000" cy="279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The computer follows your instructions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5334000"/>
            <a:ext cx="25400" cy="279400"/>
          </a:xfrm>
          <a:prstGeom prst="rect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200" y="5334000"/>
            <a:ext cx="4572000" cy="279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Text must be inside double quotes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524000"/>
            <a:ext cx="4902200" cy="292100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6711950" y="1758950"/>
            <a:ext cx="88900" cy="88900"/>
          </a:xfrm>
          <a:prstGeom prst="ellipse">
            <a:avLst/>
          </a:prstGeom>
          <a:solidFill>
            <a:srgbClr val="E77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77050" y="1758950"/>
            <a:ext cx="88900" cy="889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42150" y="1758950"/>
            <a:ext cx="88900" cy="88900"/>
          </a:xfrm>
          <a:prstGeom prst="ellipse">
            <a:avLst/>
          </a:prstGeom>
          <a:solidFill>
            <a:srgbClr val="A2B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6400" y="2095500"/>
            <a:ext cx="43815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JetBrains Mono"/>
              </a:rPr>
              <a:t>public class Main {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JetBrains Mono"/>
              </a:rPr>
              <a:t>  public static void main(String[] args) {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JetBrains Mono"/>
              </a:rPr>
              <a:t>    System.out.println("Hello, Java!");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JetBrains Mono"/>
              </a:rPr>
              <a:t>  }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JetBrains Mono"/>
              </a:rPr>
              <a:t>}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4749800"/>
            <a:ext cx="4902200" cy="635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80200" y="4927600"/>
            <a:ext cx="4445000" cy="279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JetBrains Mono"/>
              </a:rPr>
              <a:t>&gt; Hello, Java!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06425"/>
            <a:ext cx="105664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54000"/>
            <a:ext cx="1905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5842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3 / 7</a:t>
            </a:r>
          </a:p>
        </p:txBody>
      </p:sp>
      <p:sp>
        <p:nvSpPr>
          <p:cNvPr id="6" name="Oval 5"/>
          <p:cNvSpPr/>
          <p:nvPr/>
        </p:nvSpPr>
        <p:spPr>
          <a:xfrm>
            <a:off x="11258550" y="908050"/>
            <a:ext cx="88900" cy="889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838200"/>
            <a:ext cx="381000" cy="25400"/>
          </a:xfrm>
          <a:prstGeom prst="rect">
            <a:avLst/>
          </a:prstGeom>
          <a:solidFill>
            <a:srgbClr val="E77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1092200"/>
            <a:ext cx="5334000" cy="68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 u="none">
                <a:solidFill>
                  <a:srgbClr val="F1F4F2"/>
                </a:solidFill>
                <a:latin typeface="Newsreader"/>
              </a:rPr>
              <a:t>Comments are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1905000"/>
            <a:ext cx="49530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E7765F"/>
                </a:solidFill>
                <a:latin typeface="Outfit"/>
              </a:rPr>
              <a:t>Like sticky notes in a recipe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413000"/>
            <a:ext cx="4953000" cy="254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EBCB6"/>
                </a:solidFill>
                <a:latin typeface="Outfit"/>
              </a:rPr>
              <a:t>•  Java ignores these during execution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EBCB6"/>
                </a:solidFill>
                <a:latin typeface="Outfit"/>
              </a:rPr>
              <a:t/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EBCB6"/>
                </a:solidFill>
                <a:latin typeface="Outfit"/>
              </a:rPr>
              <a:t>•  Use // for single-line notes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EBCB6"/>
                </a:solidFill>
                <a:latin typeface="Outfit"/>
              </a:rPr>
              <a:t/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EBCB6"/>
                </a:solidFill>
                <a:latin typeface="Outfit"/>
              </a:rPr>
              <a:t>•  Use /* */ for longer explanations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905000"/>
            <a:ext cx="5029200" cy="304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04000" y="2133600"/>
            <a:ext cx="45212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A2BEA3"/>
                </a:solidFill>
                <a:latin typeface="JetBrains Mono"/>
              </a:rPr>
              <a:t>Comments.java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2438400"/>
            <a:ext cx="4521200" cy="2286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// This prints a greeting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System.out.println("Hello!");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/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/*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  This block explains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  the code below in detail.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*/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System.out.println("Done.");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06425"/>
            <a:ext cx="105664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54000"/>
            <a:ext cx="1905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5842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4 / 7</a:t>
            </a:r>
          </a:p>
        </p:txBody>
      </p:sp>
      <p:sp>
        <p:nvSpPr>
          <p:cNvPr id="6" name="Oval 5"/>
          <p:cNvSpPr/>
          <p:nvPr/>
        </p:nvSpPr>
        <p:spPr>
          <a:xfrm>
            <a:off x="11252200" y="901700"/>
            <a:ext cx="101600" cy="1016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1905000"/>
            <a:ext cx="25400" cy="3048000"/>
          </a:xfrm>
          <a:prstGeom prst="rect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200" y="1651000"/>
            <a:ext cx="88900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0" i="0" u="none">
                <a:solidFill>
                  <a:srgbClr val="F1F4F2"/>
                </a:solidFill>
                <a:latin typeface="Newsreader"/>
              </a:rPr>
              <a:t>Variables are labeled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200" y="3302000"/>
            <a:ext cx="4445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E7765F"/>
                </a:solidFill>
                <a:latin typeface="JetBrains Mono"/>
              </a:rPr>
              <a:t>int age = 25;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" y="3937000"/>
            <a:ext cx="47625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1F4F2"/>
                </a:solidFill>
                <a:latin typeface="Outfit"/>
              </a:rPr>
              <a:t>Give data a name to 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4279900"/>
            <a:ext cx="47625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1F4F2"/>
                </a:solidFill>
                <a:latin typeface="Outfit"/>
              </a:rPr>
              <a:t>Think of them as labeled jars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" y="4622800"/>
            <a:ext cx="47625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1F4F2"/>
                </a:solidFill>
                <a:latin typeface="Outfit"/>
              </a:rPr>
              <a:t>Declare the type, then the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200" y="4965700"/>
            <a:ext cx="47625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F1F4F2"/>
                </a:solidFill>
                <a:latin typeface="Outfit"/>
              </a:rPr>
              <a:t>Assign values using the equals sign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302000"/>
            <a:ext cx="4216400" cy="2159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56400" y="3556000"/>
            <a:ext cx="36576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E0BF67"/>
                </a:solidFill>
                <a:latin typeface="JetBrains Mono"/>
              </a:rPr>
              <a:t>type  name  =  value;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6400" y="4000500"/>
            <a:ext cx="36576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2BEA3"/>
                </a:solidFill>
                <a:latin typeface="JetBrains Mono"/>
              </a:rPr>
              <a:t>int    age   =  25;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2BEA3"/>
                </a:solidFill>
                <a:latin typeface="JetBrains Mono"/>
              </a:rPr>
              <a:t>String name  =  "Sam";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2BEA3"/>
                </a:solidFill>
                <a:latin typeface="JetBrains Mono"/>
              </a:rPr>
              <a:t>double price =  9.99;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06425"/>
            <a:ext cx="105664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54000"/>
            <a:ext cx="1905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762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5 / 7</a:t>
            </a:r>
          </a:p>
        </p:txBody>
      </p:sp>
      <p:sp>
        <p:nvSpPr>
          <p:cNvPr id="6" name="Oval 5"/>
          <p:cNvSpPr/>
          <p:nvPr/>
        </p:nvSpPr>
        <p:spPr>
          <a:xfrm>
            <a:off x="11264900" y="787400"/>
            <a:ext cx="76200" cy="762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838200"/>
            <a:ext cx="381000" cy="19050"/>
          </a:xfrm>
          <a:prstGeom prst="rect">
            <a:avLst/>
          </a:prstGeom>
          <a:solidFill>
            <a:srgbClr val="E77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1066800"/>
            <a:ext cx="8128000" cy="1320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0" i="0" u="none">
                <a:solidFill>
                  <a:srgbClr val="F1F4F2"/>
                </a:solidFill>
                <a:latin typeface="Newsreader"/>
              </a:rPr>
              <a:t>Data types define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0" i="0" u="none">
                <a:solidFill>
                  <a:srgbClr val="F1F4F2"/>
                </a:solidFill>
                <a:latin typeface="Newsreader"/>
              </a:rPr>
              <a:t>your storage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2616200"/>
            <a:ext cx="48260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A2BEA3"/>
                </a:solidFill>
                <a:latin typeface="Outfit"/>
              </a:rPr>
              <a:t>Different jars hold different things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2984500"/>
            <a:ext cx="48260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3187700"/>
            <a:ext cx="1270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JetBrains Mono"/>
              </a:rP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3403600"/>
            <a:ext cx="4445000" cy="177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stores whole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771900"/>
            <a:ext cx="1270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JetBrains Mono"/>
              </a:rPr>
              <a:t>double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987800"/>
            <a:ext cx="4445000" cy="177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stores numbers with decimals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4356100"/>
            <a:ext cx="1270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JetBrains Mono"/>
              </a:rPr>
              <a:t>boolean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4572000"/>
            <a:ext cx="4445000" cy="177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stores true or false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616200"/>
            <a:ext cx="4902200" cy="2362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31000" y="2844800"/>
            <a:ext cx="3810000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AEBCB6"/>
                </a:solidFill>
                <a:latin typeface="JetBrains Mono"/>
              </a:rPr>
              <a:t>// Jars.java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1000" y="3086100"/>
            <a:ext cx="4394200" cy="165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int age = 14;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double price = 3.50;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boolean isFun = true;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System.out.println(age);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System.out.println(price);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System.out.println(isFun);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31825"/>
            <a:ext cx="105664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381000"/>
            <a:ext cx="2540000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Outfit"/>
              </a:rPr>
              <a:t>EDITORIAL POISE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0" y="381000"/>
            <a:ext cx="1727200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AEBCB6"/>
                </a:solidFill>
                <a:latin typeface="JetBrains Mono"/>
              </a:rPr>
              <a:t>if-statements·v1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000"/>
            <a:ext cx="1270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254000"/>
            <a:ext cx="762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6 / 8</a:t>
            </a:r>
          </a:p>
        </p:txBody>
      </p:sp>
      <p:sp>
        <p:nvSpPr>
          <p:cNvPr id="8" name="Oval 7"/>
          <p:cNvSpPr/>
          <p:nvPr/>
        </p:nvSpPr>
        <p:spPr>
          <a:xfrm>
            <a:off x="11252200" y="1092200"/>
            <a:ext cx="101600" cy="1016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1905000"/>
            <a:ext cx="38100" cy="3556000"/>
          </a:xfrm>
          <a:prstGeom prst="rect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7600" y="1651000"/>
            <a:ext cx="8255000" cy="127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0" i="0" u="none">
                <a:solidFill>
                  <a:srgbClr val="F1F4F2"/>
                </a:solidFill>
                <a:latin typeface="Newsreader"/>
              </a:rPr>
              <a:t>If statements are 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302000"/>
            <a:ext cx="7620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E7765F"/>
                </a:solidFill>
                <a:latin typeface="JetBrains Mono"/>
              </a:rPr>
              <a:t>if ( condition ) { ... } else { ...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4064000"/>
            <a:ext cx="2540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E0BF67"/>
                </a:solidFill>
                <a:latin typeface="JetBrain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8600" y="4051300"/>
            <a:ext cx="6350000" cy="279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F1F4F2"/>
                </a:solidFill>
                <a:latin typeface="Outfit"/>
              </a:rPr>
              <a:t>The keyword if asks a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4483100"/>
            <a:ext cx="2540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E0BF67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8600" y="4470400"/>
            <a:ext cx="6350000" cy="279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F1F4F2"/>
                </a:solidFill>
                <a:latin typeface="Outfit"/>
              </a:rPr>
              <a:t>Code runs only if 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4902200"/>
            <a:ext cx="2540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E0BF67"/>
                </a:solidFill>
                <a:latin typeface="JetBrains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8600" y="4889500"/>
            <a:ext cx="6350000" cy="279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F1F4F2"/>
                </a:solidFill>
                <a:latin typeface="Outfit"/>
              </a:rPr>
              <a:t>Else is the otherwise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5321300"/>
            <a:ext cx="2540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E0BF67"/>
                </a:solidFill>
                <a:latin typeface="JetBrains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8600" y="5308600"/>
            <a:ext cx="6350000" cy="279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F1F4F2"/>
                </a:solidFill>
                <a:latin typeface="Outfit"/>
              </a:rPr>
              <a:t>Use ==, &gt;, &lt; to compare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06425"/>
            <a:ext cx="105664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54000"/>
            <a:ext cx="1905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STRINGS &amp; CHARS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5842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7 / 12</a:t>
            </a:r>
          </a:p>
        </p:txBody>
      </p:sp>
      <p:sp>
        <p:nvSpPr>
          <p:cNvPr id="6" name="Oval 5"/>
          <p:cNvSpPr/>
          <p:nvPr/>
        </p:nvSpPr>
        <p:spPr>
          <a:xfrm>
            <a:off x="11074400" y="977900"/>
            <a:ext cx="76200" cy="762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952500"/>
            <a:ext cx="10566400" cy="825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0" i="0" u="none">
                <a:solidFill>
                  <a:srgbClr val="F1F4F2"/>
                </a:solidFill>
                <a:latin typeface="Newsreader"/>
              </a:rPr>
              <a:t>Strings hold text; chars hold a single letter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2159000"/>
            <a:ext cx="5080000" cy="25400"/>
          </a:xfrm>
          <a:prstGeom prst="rect">
            <a:avLst/>
          </a:prstGeom>
          <a:solidFill>
            <a:srgbClr val="E77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2540000"/>
            <a:ext cx="4572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char stores ONE character in single quotes</a:t>
            </a:r>
          </a:p>
        </p:txBody>
      </p:sp>
      <p:sp>
        <p:nvSpPr>
          <p:cNvPr id="10" name="Oval 9"/>
          <p:cNvSpPr/>
          <p:nvPr/>
        </p:nvSpPr>
        <p:spPr>
          <a:xfrm>
            <a:off x="660400" y="2609850"/>
            <a:ext cx="50800" cy="508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2921000"/>
            <a:ext cx="4572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String stores text in double quotes</a:t>
            </a:r>
          </a:p>
        </p:txBody>
      </p:sp>
      <p:sp>
        <p:nvSpPr>
          <p:cNvPr id="12" name="Oval 11"/>
          <p:cNvSpPr/>
          <p:nvPr/>
        </p:nvSpPr>
        <p:spPr>
          <a:xfrm>
            <a:off x="660400" y="2990850"/>
            <a:ext cx="50800" cy="508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3302000"/>
            <a:ext cx="4572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String is an OBJECT, not a primitive</a:t>
            </a:r>
          </a:p>
        </p:txBody>
      </p:sp>
      <p:sp>
        <p:nvSpPr>
          <p:cNvPr id="14" name="Oval 13"/>
          <p:cNvSpPr/>
          <p:nvPr/>
        </p:nvSpPr>
        <p:spPr>
          <a:xfrm>
            <a:off x="660400" y="3371850"/>
            <a:ext cx="50800" cy="508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3683000"/>
            <a:ext cx="4572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Outfit"/>
              </a:rPr>
              <a:t>Strings are immutable (cannot change)</a:t>
            </a:r>
          </a:p>
        </p:txBody>
      </p:sp>
      <p:sp>
        <p:nvSpPr>
          <p:cNvPr id="16" name="Oval 15"/>
          <p:cNvSpPr/>
          <p:nvPr/>
        </p:nvSpPr>
        <p:spPr>
          <a:xfrm>
            <a:off x="660400" y="3752850"/>
            <a:ext cx="50800" cy="508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800" y="4064000"/>
            <a:ext cx="4572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A2BEA3"/>
                </a:solidFill>
                <a:latin typeface="Outfit"/>
              </a:rPr>
              <a:t>char uses 'a' ; String uses "hello"</a:t>
            </a:r>
          </a:p>
        </p:txBody>
      </p:sp>
      <p:sp>
        <p:nvSpPr>
          <p:cNvPr id="18" name="Oval 17"/>
          <p:cNvSpPr/>
          <p:nvPr/>
        </p:nvSpPr>
        <p:spPr>
          <a:xfrm>
            <a:off x="660400" y="4133850"/>
            <a:ext cx="50800" cy="508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540000"/>
            <a:ext cx="5029200" cy="228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04000" y="2794000"/>
            <a:ext cx="45212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E0BF67"/>
                </a:solidFill>
                <a:latin typeface="JetBrains Mono"/>
              </a:rPr>
              <a:t>char letter = 'J';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000" y="3048000"/>
            <a:ext cx="45212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E7765F"/>
                </a:solidFill>
                <a:latin typeface="JetBrains Mono"/>
              </a:rPr>
              <a:t>String name = "Java";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000" y="3302000"/>
            <a:ext cx="45212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System.out.println(letter);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0" y="3556000"/>
            <a:ext cx="45212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F1F4F2"/>
                </a:solidFill>
                <a:latin typeface="JetBrains Mono"/>
              </a:rPr>
              <a:t>System.out.println(name);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4000" y="3937000"/>
            <a:ext cx="4521200" cy="508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AEBCB6"/>
                </a:solidFill>
                <a:latin typeface="JetBrains Mono"/>
              </a:rPr>
              <a:t>// Use String for words; char for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AEBCB6"/>
                </a:solidFill>
                <a:latin typeface="JetBrains Mono"/>
              </a:rPr>
              <a:t>// a single letter.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555625"/>
            <a:ext cx="105664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54000"/>
            <a:ext cx="1397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762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939800"/>
            <a:ext cx="406400" cy="38100"/>
          </a:xfrm>
          <a:prstGeom prst="rect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1117600"/>
            <a:ext cx="10566400" cy="685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u="none">
                <a:solidFill>
                  <a:srgbClr val="F1F4F2"/>
                </a:solidFill>
                <a:latin typeface="Newsreader"/>
              </a:rPr>
              <a:t>Strings come with built-in helpers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0320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A2BEA3"/>
                </a:solidFill>
                <a:latin typeface="Outfit"/>
              </a:rPr>
              <a:t>Common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2362200"/>
            <a:ext cx="635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Outfi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362200"/>
            <a:ext cx="46482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Outfit"/>
              </a:rPr>
              <a:t>length() — counts the characters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692400"/>
            <a:ext cx="635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Outf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692400"/>
            <a:ext cx="46482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Outfit"/>
              </a:rPr>
              <a:t>toUpperCase() / toLowerCase() — changes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022600"/>
            <a:ext cx="635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Outf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022600"/>
            <a:ext cx="46482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Outfit"/>
              </a:rPr>
              <a:t>concat() — joins two strings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352800"/>
            <a:ext cx="635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Outfit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352800"/>
            <a:ext cx="46482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Outfit"/>
              </a:rPr>
              <a:t>charAt(int) — picks character by 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683000"/>
            <a:ext cx="635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Outfit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3683000"/>
            <a:ext cx="46482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Outfit"/>
              </a:rPr>
              <a:t>substring(int) — grabs a piece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013200"/>
            <a:ext cx="635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E0BF67"/>
                </a:solidFill>
                <a:latin typeface="Outfit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4013200"/>
            <a:ext cx="46482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1F4F2"/>
                </a:solidFill>
                <a:latin typeface="Outfit"/>
              </a:rPr>
              <a:t>trim() — removes extra space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800" y="2032000"/>
            <a:ext cx="5232400" cy="2463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0000" y="2235200"/>
            <a:ext cx="48260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AEBCB6"/>
                </a:solidFill>
                <a:latin typeface="JetBrains Mono"/>
              </a:rPr>
              <a:t>Example.java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2489200"/>
            <a:ext cx="4826000" cy="1828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String s = "Hello, Java!";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System.out.println(s.length()); // 12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System.out.println(s.toUpperCase()); // HELLO, JAVA!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System.out.println(s.substring(0, 5)); // Hello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555625"/>
            <a:ext cx="105664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54000"/>
            <a:ext cx="2540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FUNCTIONS &amp;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5842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812800"/>
            <a:ext cx="38100" cy="533400"/>
          </a:xfrm>
          <a:prstGeom prst="rect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812800"/>
            <a:ext cx="5080000" cy="1066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u="none">
                <a:solidFill>
                  <a:srgbClr val="F1F4F2"/>
                </a:solidFill>
                <a:latin typeface="Newsreader"/>
              </a:rPr>
              <a:t>Methods are reusable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u="none">
                <a:solidFill>
                  <a:srgbClr val="F1F4F2"/>
                </a:solidFill>
                <a:latin typeface="Newsreader"/>
              </a:rPr>
              <a:t>named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159000"/>
            <a:ext cx="4953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AEBCB6"/>
                </a:solidFill>
                <a:latin typeface="Outfit"/>
              </a:rPr>
              <a:t>A block of code, given a name, that you call whenever you need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603500"/>
            <a:ext cx="254000" cy="19050"/>
          </a:xfrm>
          <a:prstGeom prst="rect">
            <a:avLst/>
          </a:prstGeom>
          <a:solidFill>
            <a:srgbClr val="E77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794000"/>
            <a:ext cx="49530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1F4F2"/>
                </a:solidFill>
                <a:latin typeface="Outfit"/>
              </a:rPr>
              <a:t>•  A method is a block of code with a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073400"/>
            <a:ext cx="49530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1F4F2"/>
                </a:solidFill>
                <a:latin typeface="Outfit"/>
              </a:rPr>
              <a:t>•  You can call it whenever you need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352800"/>
            <a:ext cx="49530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E0BF67"/>
                </a:solidFill>
                <a:latin typeface="Outfit"/>
              </a:rPr>
              <a:t>•  main is the method every program starts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632200"/>
            <a:ext cx="49530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1F4F2"/>
                </a:solidFill>
                <a:latin typeface="Outfit"/>
              </a:rPr>
              <a:t>•  Methods can take inputs (parameters)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911600"/>
            <a:ext cx="49530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1F4F2"/>
                </a:solidFill>
                <a:latin typeface="Outfit"/>
              </a:rPr>
              <a:t>•  Methods can produce an output (return value)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812800"/>
            <a:ext cx="4902200" cy="3314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812800"/>
            <a:ext cx="4902200" cy="27940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6642100" y="914400"/>
            <a:ext cx="76200" cy="76200"/>
          </a:xfrm>
          <a:prstGeom prst="ellipse">
            <a:avLst/>
          </a:prstGeom>
          <a:solidFill>
            <a:srgbClr val="E77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94500" y="914400"/>
            <a:ext cx="76200" cy="76200"/>
          </a:xfrm>
          <a:prstGeom prst="ellipse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46900" y="914400"/>
            <a:ext cx="76200" cy="76200"/>
          </a:xfrm>
          <a:prstGeom prst="ellipse">
            <a:avLst/>
          </a:prstGeom>
          <a:solidFill>
            <a:srgbClr val="A2B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7000" y="876300"/>
            <a:ext cx="49022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Main.java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1000" y="1244600"/>
            <a:ext cx="4445000" cy="2540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public static void greet(String name) {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    System.out.println("Hello, " + name + "!");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}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public static void main(String[] args) {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    greet("Alice");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    greet("Bob");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F1F4F2"/>
                </a:solidFill>
                <a:latin typeface="JetBrains Mono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631825"/>
            <a:ext cx="10566400" cy="6350"/>
          </a:xfrm>
          <a:prstGeom prst="rect">
            <a:avLst/>
          </a:prstGeom>
          <a:solidFill>
            <a:srgbClr val="254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54000"/>
            <a:ext cx="1651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ENCAPSULATION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762000" cy="88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AEBCB6"/>
                </a:solidFill>
                <a:latin typeface="JetBrains Mono"/>
              </a:rPr>
              <a:t>// 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1003300"/>
            <a:ext cx="38100" cy="4064000"/>
          </a:xfrm>
          <a:prstGeom prst="rect">
            <a:avLst/>
          </a:prstGeom>
          <a:solidFill>
            <a:srgbClr val="E0B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1003300"/>
            <a:ext cx="5715000" cy="889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 u="none">
                <a:solidFill>
                  <a:srgbClr val="F1F4F2"/>
                </a:solidFill>
                <a:latin typeface="Newsreader"/>
              </a:rPr>
              <a:t>Access modifiers decide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 u="none">
                <a:solidFill>
                  <a:srgbClr val="F1F4F2"/>
                </a:solidFill>
                <a:latin typeface="Newsreader"/>
              </a:rPr>
              <a:t>who can see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159000"/>
            <a:ext cx="50800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1F4F2"/>
                </a:solidFill>
                <a:latin typeface="Outfit"/>
              </a:rPr>
              <a:t>public — everyone can see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540000"/>
            <a:ext cx="50800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1F4F2"/>
                </a:solidFill>
                <a:latin typeface="Outfit"/>
              </a:rPr>
              <a:t>private — only the same class 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921000"/>
            <a:ext cx="50800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1F4F2"/>
                </a:solidFill>
                <a:latin typeface="Outfit"/>
              </a:rPr>
              <a:t>default — only the same package 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302000"/>
            <a:ext cx="50800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1F4F2"/>
                </a:solidFill>
                <a:latin typeface="Outfit"/>
              </a:rPr>
              <a:t>protected — subclasses can, too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159000"/>
            <a:ext cx="4902200" cy="190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31000" y="2413000"/>
            <a:ext cx="4445000" cy="139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A2BEA3"/>
                </a:solidFill>
                <a:latin typeface="JetBrains Mono"/>
              </a:rPr>
              <a:t>public class House {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A2BEA3"/>
                </a:solidFill>
                <a:latin typeface="JetBrains Mono"/>
              </a:rPr>
              <a:t>    public void livingRoom() { } // Public access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A2BEA3"/>
                </a:solidFill>
                <a:latin typeface="JetBrains Mono"/>
              </a:rPr>
              <a:t>    private void bedroom() { }   // Private access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u="none">
                <a:solidFill>
                  <a:srgbClr val="A2BEA3"/>
                </a:solidFill>
                <a:latin typeface="JetBrai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4572000"/>
            <a:ext cx="6350000" cy="254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AEBCB6"/>
                </a:solidFill>
                <a:latin typeface="Outfit"/>
              </a:rPr>
              <a:t>Choose the tightest access that still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