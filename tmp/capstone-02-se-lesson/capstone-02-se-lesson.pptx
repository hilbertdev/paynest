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</a:t>
            </a:r>
          </a:p>
          <a:p>
            <a:r>
              <a:t>Objective: Set the frame — today we learn why Capstone 2's design exists.</a:t>
            </a:r>
          </a:p>
          <a:p>
            <a:r>
              <a:t>Why this exists: Students who jump to 'implements PaymentMethod' miss the engineering reason.</a:t>
            </a:r>
          </a:p>
          <a:p>
            <a:r>
              <a:t>Analogy: Learning traffic lights by memorising colours vs understanding why intersections need them.</a:t>
            </a:r>
          </a:p>
          <a:p>
            <a:r>
              <a:t>Live coding: None yet. Open PayNestApplication and leave Capstone 1 summary on screen.</a:t>
            </a:r>
          </a:p>
          <a:p>
            <a:r>
              <a:t>Exercise: None.</a:t>
            </a:r>
          </a:p>
          <a:p>
            <a:r>
              <a:t>Common mistakes: Starting with 'today we learn interfaces.'</a:t>
            </a:r>
          </a:p>
          <a:p>
            <a:r>
              <a:t>Ask: What do you already trust about Capstone 1 orders?</a:t>
            </a:r>
          </a:p>
          <a:p>
            <a:r>
              <a:t>Transition: We start from what you already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>
            <a:r>
              <a:t>Tell students: interfaces appear only after we feel the pain of change.</a:t>
            </a:r>
          </a:p>
          <a:p>
            <a:r>
              <a:t>Breaks are embedded; total ~150–180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</a:t>
            </a:r>
          </a:p>
          <a:p>
            <a:r>
              <a:t>Objective: Reset student expectations away from syntax drills.</a:t>
            </a:r>
          </a:p>
          <a:p>
            <a:r>
              <a:t>Why: Capstone 2 exists because Ops asked for extensible checkout — not because 'interfaces are in the curriculum.'</a:t>
            </a:r>
          </a:p>
          <a:p>
            <a:r>
              <a:t>Analogy: Doctors don't start with 'today we learn scalpels' — they start with the patient problem.</a:t>
            </a:r>
          </a:p>
          <a:p>
            <a:r>
              <a:t>Ask: When has a feature request forced you to rewrite working code?</a:t>
            </a:r>
          </a:p>
          <a:p>
            <a:r>
              <a:t>Transition: Let's recall Capstone 1 — the code that must stay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OPENER — Block 0</a:t>
            </a:r>
          </a:p>
          <a:p>
            <a:r>
              <a:t>Objective: Reconnect objects, encapsulation, and trustworthy totals before payment pressure arrives.</a:t>
            </a:r>
          </a:p>
          <a:p>
            <a:r>
              <a:t>Pause. Tell students what they will be able to explain after this block.</a:t>
            </a:r>
          </a:p>
          <a:p>
            <a:r>
              <a:t>Do not dive into syntax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TOOLS</a:t>
            </a:r>
          </a:p>
          <a:p>
            <a:r>
              <a:t>Objective: Activate prior knowledge so Capstone 2 feels continuous.</a:t>
            </a:r>
          </a:p>
          <a:p>
            <a:r>
              <a:t>Why: New abstractions land on familiar OOP skills.</a:t>
            </a:r>
          </a:p>
          <a:p>
            <a:r>
              <a:t>Live coding: Flash Order.java fields and calculateTotal — no edits.</a:t>
            </a:r>
          </a:p>
          <a:p>
            <a:r>
              <a:t>Ask: Which of these protect the R12,400 demo total?</a:t>
            </a:r>
          </a:p>
          <a:p>
            <a:r>
              <a:t>Transition: Open the Capstone 1 path in PayNestApplication.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C1 WALK</a:t>
            </a:r>
          </a:p>
          <a:p>
            <a:r>
              <a:t>Objective: Re-establish the commerce kernel as trustworthy ground truth.</a:t>
            </a:r>
          </a:p>
          <a:p>
            <a:r>
              <a:t>Why: Checkout must charge that same total — no new arithmetic story.</a:t>
            </a:r>
          </a:p>
          <a:p>
            <a:r>
              <a:t>Analogy: The till receipt must match the shelf prices.</a:t>
            </a:r>
          </a:p>
          <a:p>
            <a:r>
              <a:t>Live coding: Run mvn exec:java (or highlight printSummary output). Stop before payment if showing C1-only narrative first.</a:t>
            </a:r>
          </a:p>
          <a:p>
            <a:r>
              <a:t>Ask: If Ops asks for three payment rails, what must NOT change?</a:t>
            </a:r>
          </a:p>
          <a:p>
            <a:r>
              <a:t>Transition: Hook — 'Ops wants card, EFT, and wallet. What breaks if we hard-code that?'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</a:t>
            </a:r>
          </a:p>
          <a:p>
            <a:r>
              <a:t>Pause for 20 seconds of silence after the question.</a:t>
            </a:r>
          </a:p>
          <a:p>
            <a:r>
              <a:t>Collect 2–3 student guesses on the whiteboard.</a:t>
            </a:r>
          </a:p>
          <a:p>
            <a:r>
              <a:t>Transition into Block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OPENER — Block 1</a:t>
            </a:r>
          </a:p>
          <a:p>
            <a:r>
              <a:t>Objective: Explain change pressure and why tightly coupled checkout is hard to maintain.</a:t>
            </a:r>
          </a:p>
          <a:p>
            <a:r>
              <a:t>Pause. Tell students what they will be able to explain after this block.</a:t>
            </a:r>
          </a:p>
          <a:p>
            <a:r>
              <a:t>Do not dive into syntax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SOFTWARE CHANGES</a:t>
            </a:r>
          </a:p>
          <a:p>
            <a:r>
              <a:t>Objective: Students can explain change pressure as a design force.</a:t>
            </a:r>
          </a:p>
          <a:p>
            <a:r>
              <a:t>Why this concept exists: SE is managing inevitable change without destroying working systems.</a:t>
            </a:r>
          </a:p>
          <a:p>
            <a:r>
              <a:t>Analogy: A restaurant menu grows — kitchen layout must absorb new dishes without rebuilding the building.</a:t>
            </a:r>
          </a:p>
          <a:p>
            <a:r>
              <a:t>Live coding: Read Capstone 2 brief scenario aloud (merchants loved C1; now want checkout).</a:t>
            </a:r>
          </a:p>
          <a:p>
            <a:r>
              <a:t>Exercise: None yet.</a:t>
            </a:r>
          </a:p>
          <a:p>
            <a:r>
              <a:t>Common mistakes: Treating requirements as frozen forever.</a:t>
            </a:r>
          </a:p>
          <a:p>
            <a:r>
              <a:t>Ask: What changed between Capstone 1 and Capstone 2 from Ops' point of view?</a:t>
            </a:r>
          </a:p>
          <a:p>
            <a:r>
              <a:t>Transition: Let's write the 'obvious' checkout — and feel why it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ANTI-PATTERN CHECKOUT</a:t>
            </a:r>
          </a:p>
          <a:p>
            <a:r>
              <a:t>Objective: Recognise tight coupling between Order and payment types.</a:t>
            </a:r>
          </a:p>
          <a:p>
            <a:r>
              <a:t>Why: Illustrating failure modes teaches better than praising patterns.</a:t>
            </a:r>
          </a:p>
          <a:p>
            <a:r>
              <a:t>Analogy: One cashier who must know every bank's phone number by heart.</a:t>
            </a:r>
          </a:p>
          <a:p>
            <a:r>
              <a:t>Live coding: Type this anti-pattern on a scratch slide or scratch class — do NOT put it in Order.java.</a:t>
            </a:r>
          </a:p>
          <a:p>
            <a:r>
              <a:t>Common mistakes: Thinking 'just one more else if' is fine forever.</a:t>
            </a:r>
          </a:p>
          <a:p>
            <a:r>
              <a:t>Ask: How many places change when Ops adds Buy Now Pay Later?</a:t>
            </a:r>
          </a:p>
          <a:p>
            <a:r>
              <a:t>Transition: Let's do the BNPL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 — BNPL PAIN</a:t>
            </a:r>
          </a:p>
          <a:p>
            <a:r>
              <a:t>Objective: Make change cost visceral.</a:t>
            </a:r>
          </a:p>
          <a:p>
            <a:r>
              <a:t>Collect lists on the board. Expect: else-if branch, string constant, print messages, maybe a switch elsewhere, demo main, tests.</a:t>
            </a:r>
          </a:p>
          <a:p>
            <a:r>
              <a:t>Debrief: This list IS the maintainability problem.</a:t>
            </a:r>
          </a:p>
          <a:p>
            <a:r>
              <a:t>Transition: Name the SE concepts for what we just felt.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TIGHT COUPLING</a:t>
            </a:r>
          </a:p>
          <a:p>
            <a:r>
              <a:t>Objective: Define coupling and why Capstone 2 attacks it.</a:t>
            </a:r>
          </a:p>
          <a:p>
            <a:r>
              <a:t>Why: Maintainability is a first-class SE goal for growing systems.</a:t>
            </a:r>
          </a:p>
          <a:p>
            <a:r>
              <a:t>Analogy: Headphones glued into a phone — upgrade either part and both break.</a:t>
            </a:r>
          </a:p>
          <a:p>
            <a:r>
              <a:t>Common mistakes: Confusing 'works in demo' with 'safe to extend'.</a:t>
            </a:r>
          </a:p>
          <a:p>
            <a:r>
              <a:t>Ask: Is Order's job 'own line items and totals' or 'know Visa vs EFT protocols'?</a:t>
            </a:r>
          </a:p>
          <a:p>
            <a:r>
              <a:t>Transition: If Order owns too much, we need vocabulary for good boundaries — Block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OPENER — Block 2</a:t>
            </a:r>
          </a:p>
          <a:p>
            <a:r>
              <a:t>Objective: Name responsibility, cohesion, coupling, and composition using Capstone 1 code.</a:t>
            </a:r>
          </a:p>
          <a:p>
            <a:r>
              <a:t>Pause. Tell students what they will be able to explain after this block.</a:t>
            </a:r>
          </a:p>
          <a:p>
            <a:r>
              <a:t>Do not dive into syntax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RESPONSIBILITY</a:t>
            </a:r>
          </a:p>
          <a:p>
            <a:r>
              <a:t>Objective: State Order's responsibility in one sentence.</a:t>
            </a:r>
          </a:p>
          <a:p>
            <a:r>
              <a:t>Why: Single Responsibility Principle emerges from clear ownership.</a:t>
            </a:r>
          </a:p>
          <a:p>
            <a:r>
              <a:t>Analogy: Kitchen — chef cooks; cashier takes payment. Mixing roles creates chaos at rush hour.</a:t>
            </a:r>
          </a:p>
          <a:p>
            <a:r>
              <a:t>Live coding: Open Order.java — point at addItem, calculateTotal, printSummary, getItems.</a:t>
            </a:r>
          </a:p>
          <a:p>
            <a:r>
              <a:t>Ask: Where does payment fit without polluting those duties?</a:t>
            </a:r>
          </a:p>
          <a:p>
            <a:r>
              <a:t>Transition: Cohesion and coupling name how well we grouped those duties.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COHESION &amp; COUPLING</a:t>
            </a:r>
          </a:p>
          <a:p>
            <a:r>
              <a:t>Objective: Define both and spot them in Capstone 1 code.</a:t>
            </a:r>
          </a:p>
          <a:p>
            <a:r>
              <a:t>Why: These words let teams argue about design without personal taste.</a:t>
            </a:r>
          </a:p>
          <a:p>
            <a:r>
              <a:t>Analogy: A toolbox with only screwdrivers (cohesive) vs a junk drawer (low cohesion).</a:t>
            </a:r>
          </a:p>
          <a:p>
            <a:r>
              <a:t>Common mistakes: Giant Utils class — low cohesion, high coupling magnet.</a:t>
            </a:r>
          </a:p>
          <a:p>
            <a:r>
              <a:t>Ask: Is the if/else checkout high or low cohesion inside Order?</a:t>
            </a:r>
          </a:p>
          <a:p>
            <a:r>
              <a:t>Transition: Composition is how Order already builds complexity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COMPOSITION</a:t>
            </a:r>
          </a:p>
          <a:p>
            <a:r>
              <a:t>Objective: Explain has-a vs inherits-a using Order.</a:t>
            </a:r>
          </a:p>
          <a:p>
            <a:r>
              <a:t>Why: Capstone 2 checkout should compose a PaymentMethod, not inherit CardPayment.</a:t>
            </a:r>
          </a:p>
          <a:p>
            <a:r>
              <a:t>Analogy: A playlist has songs; it is not a kind of song.</a:t>
            </a:r>
          </a:p>
          <a:p>
            <a:r>
              <a:t>Live coding: Highlight unmodifiable getItems — encapsulation protecting totals.</a:t>
            </a:r>
          </a:p>
          <a:p>
            <a:r>
              <a:t>Common mistakes: Public ArrayList field; recalculating totals in three places.</a:t>
            </a:r>
          </a:p>
          <a:p>
            <a:r>
              <a:t>Ask: Should Order extend CardPayment? Why does that sound wrong?</a:t>
            </a:r>
          </a:p>
          <a:p>
            <a:r>
              <a:t>Transition: We need a payment capability that Order can compose — that needs an abstraction.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 — VOCAB</a:t>
            </a:r>
          </a:p>
          <a:p>
            <a:r>
              <a:t>Sample answers: low cohesion (payment mixed with order math); high coupling to string rails; Order taking payment responsibility it shouldn't; composition missing (no payment object).</a:t>
            </a:r>
          </a:p>
          <a:p>
            <a:r>
              <a:t>Transition: Block 3 — invent the shared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OPENER — Block 3</a:t>
            </a:r>
          </a:p>
          <a:p>
            <a:r>
              <a:t>Objective: Derive a shared payment contract and program to that abstraction.</a:t>
            </a:r>
          </a:p>
          <a:p>
            <a:r>
              <a:t>Pause. Tell students what they will be able to explain after this block.</a:t>
            </a:r>
          </a:p>
          <a:p>
            <a:r>
              <a:t>Do not dive into syntax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NEED FOR ABSTRACTION</a:t>
            </a:r>
          </a:p>
          <a:p>
            <a:r>
              <a:t>Objective: Derive the shared behaviour before naming Java interfaces.</a:t>
            </a:r>
          </a:p>
          <a:p>
            <a:r>
              <a:t>Why abstractions exist: Call sites need a stable vocabulary while details vary.</a:t>
            </a:r>
          </a:p>
          <a:p>
            <a:r>
              <a:t>Analogy: 'Pay the bill' means the same whether you use cash, card, or transfer — the waiter doesn't run different restaurants for each.</a:t>
            </a:r>
          </a:p>
          <a:p>
            <a:r>
              <a:t>Live coding: Ask students to shout the two shared operations before opening PaymentMethod.java.</a:t>
            </a:r>
          </a:p>
          <a:p>
            <a:r>
              <a:t>Common mistakes: Jumping to 'interface' keyword before agreeing on behaviour.</a:t>
            </a:r>
          </a:p>
          <a:p>
            <a:r>
              <a:t>Ask: What must stay the same when the rail changes?</a:t>
            </a:r>
          </a:p>
          <a:p>
            <a:r>
              <a:t>Transition: That shared behaviour is a contract — in Java, an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 — SIGNATURES</a:t>
            </a:r>
          </a:p>
          <a:p>
            <a:r>
              <a:t>Accept processPayment(double) / pay(double) / charge(double) and getType() / getName().</a:t>
            </a:r>
          </a:p>
          <a:p>
            <a:r>
              <a:t>Then reveal the real interface — celebrate near matches.</a:t>
            </a:r>
          </a:p>
          <a:p>
            <a:r>
              <a:t>Transition: Open PaymentMethod.java.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PAYMENTMETHOD INTERFACE</a:t>
            </a:r>
          </a:p>
          <a:p>
            <a:r>
              <a:t>Objective: Read an interface as a SE contract, not a keyword demo.</a:t>
            </a:r>
          </a:p>
          <a:p>
            <a:r>
              <a:t>Why interfaces solve extensibility: new classes can satisfy the same promise.</a:t>
            </a:r>
          </a:p>
          <a:p>
            <a:r>
              <a:t>Analogy: A power socket standard — any compliant plug works; appliances vary.</a:t>
            </a:r>
          </a:p>
          <a:p>
            <a:r>
              <a:t>Live coding: Open PaymentMethod.java; walk Javadoc.</a:t>
            </a:r>
          </a:p>
          <a:p>
            <a:r>
              <a:t>Common mistakes: Putting System.out or card fields on the interface.</a:t>
            </a:r>
          </a:p>
          <a:p>
            <a:r>
              <a:t>Ask: Who benefits more — CardPayment author or Order.checkout author?</a:t>
            </a:r>
          </a:p>
          <a:p>
            <a:r>
              <a:t>Transition: Look at three implementations that honour the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RAILS</a:t>
            </a:r>
          </a:p>
          <a:p>
            <a:r>
              <a:t>Objective: See interchangeable implementations under one type.</a:t>
            </a:r>
          </a:p>
          <a:p>
            <a:r>
              <a:t>Live coding: Open CardPayment, EftPayment, WalletPayment side by side.</a:t>
            </a:r>
          </a:p>
          <a:p>
            <a:r>
              <a:t>Note: processPayment currently always returns true — simulation for Capstone 2.</a:t>
            </a:r>
          </a:p>
          <a:p>
            <a:r>
              <a:t>Ask: What would change inside Order if we only add WalletPayment? (Ideally: nothing.)</a:t>
            </a:r>
          </a:p>
          <a:p>
            <a:r>
              <a:t>Transition: Call sites must use the interface type — programming to abstractions / DIP.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TO ABSTRACTIONS / DIP</a:t>
            </a:r>
          </a:p>
          <a:p>
            <a:r>
              <a:t>Objective: State DIP in Capstone 2 language without heavy theory.</a:t>
            </a:r>
          </a:p>
          <a:p>
            <a:r>
              <a:t>Why: Inverting dependencies protects stable business flow from volatile rail details.</a:t>
            </a:r>
          </a:p>
          <a:p>
            <a:r>
              <a:t>Analogy: Hire 'a driver' not 'specifically Thabo in a Toyota'.</a:t>
            </a:r>
          </a:p>
          <a:p>
            <a:r>
              <a:t>Live coding: Show Order.checkout(PaymentMethod) signature and PayNestApplication PaymentMethod paymentMethod = new CardPayment();</a:t>
            </a:r>
          </a:p>
          <a:p>
            <a:r>
              <a:t>Common mistakes: Parameter type CardPayment everywhere 'because the demo uses card'.</a:t>
            </a:r>
          </a:p>
          <a:p>
            <a:r>
              <a:t>Ask: Which version survives adding EftPayment without recompiling Order?</a:t>
            </a:r>
          </a:p>
          <a:p>
            <a:r>
              <a:t>Transition: A contract is useless unless polymorphism actually selects behaviour — Block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OPENER — Block 4</a:t>
            </a:r>
          </a:p>
          <a:p>
            <a:r>
              <a:t>Objective: Use polymorphism and dynamic dispatch to remove switches; recognise OCP and DIP.</a:t>
            </a:r>
          </a:p>
          <a:p>
            <a:r>
              <a:t>Pause. Tell students what they will be able to explain after this block.</a:t>
            </a:r>
          </a:p>
          <a:p>
            <a:r>
              <a:t>Do not dive into syntax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POLYMORPHISM</a:t>
            </a:r>
          </a:p>
          <a:p>
            <a:r>
              <a:t>Objective: Explain polymorphism as one variable, many possible behaviours.</a:t>
            </a:r>
          </a:p>
          <a:p>
            <a:r>
              <a:t>Why: Eliminates type switches at the orchestration layer.</a:t>
            </a:r>
          </a:p>
          <a:p>
            <a:r>
              <a:t>Analogy: Pressing 'Play' on different media players — same button, different content.</a:t>
            </a:r>
          </a:p>
          <a:p>
            <a:r>
              <a:t>Live coding: In PayNestApplication, change CardPayment to EftPayment, rerun, compare console.</a:t>
            </a:r>
          </a:p>
          <a:p>
            <a:r>
              <a:t>Common mistakes: Still writing if (method.getPaymentType().equals("CARD")) in checkout.</a:t>
            </a:r>
          </a:p>
          <a:p>
            <a:r>
              <a:t>Ask: Where did the else-if go?</a:t>
            </a:r>
          </a:p>
          <a:p>
            <a:r>
              <a:t>Transition: Name Open/Closed — we are open for new rails, closed for Order arithmetic edits.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DYNAMIC DISPATCH</a:t>
            </a:r>
          </a:p>
          <a:p>
            <a:r>
              <a:t>Objective: Demystify how polymorphism is executed.</a:t>
            </a:r>
          </a:p>
          <a:p>
            <a:r>
              <a:t>Keep JVM vtable talk light — second-year level.</a:t>
            </a:r>
          </a:p>
          <a:p>
            <a:r>
              <a:t>Ask: If the variable type is PaymentMethod, can checkout call a Card-only private method? (No.)</a:t>
            </a:r>
          </a:p>
          <a:p>
            <a:r>
              <a:t>Transition: This is what makes Open/Closed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OCP</a:t>
            </a:r>
          </a:p>
          <a:p>
            <a:r>
              <a:t>Objective: State OCP with Capstone 2 examples.</a:t>
            </a:r>
          </a:p>
          <a:p>
            <a:r>
              <a:t>Why: SOLID names patterns teams already earned through pain.</a:t>
            </a:r>
          </a:p>
          <a:p>
            <a:r>
              <a:t>Analogy: USB ports — new devices without redesigning the laptop motherboard.</a:t>
            </a:r>
          </a:p>
          <a:p>
            <a:r>
              <a:t>Distinction drill: What files change for BNPL? New class + wiring — not Order math.</a:t>
            </a:r>
          </a:p>
          <a:p>
            <a:r>
              <a:t>Ask: Does OCP mean we never edit any file? (No — we avoid editing the wrong files.)</a:t>
            </a:r>
          </a:p>
          <a:p>
            <a:r>
              <a:t>Transition: Who orchestrates talking to the rail — Order alone, or a collaborator?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 — FILES CHANGE</a:t>
            </a:r>
          </a:p>
          <a:p>
            <a:r>
              <a:t>Good answer: new BuyNowPayLaterPayment.java; maybe PayNestApplication wiring; optional test.</a:t>
            </a:r>
          </a:p>
          <a:p>
            <a:r>
              <a:t>Untouched: Order.calculateTotal, OrderItem, Product, ideally Order.checkout body.</a:t>
            </a:r>
          </a:p>
          <a:p>
            <a:r>
              <a:t>Celebrate the shorter list vs Block 1.</a:t>
            </a:r>
          </a:p>
          <a:p>
            <a:r>
              <a:t>Transition: Block 5 — PaymentProcessor and checkout orchestration.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OPENER — Block 5</a:t>
            </a:r>
          </a:p>
          <a:p>
            <a:r>
              <a:t>Objective: Trace PaymentProcessor and Order.checkout as separation of concerns and delegation.</a:t>
            </a:r>
          </a:p>
          <a:p>
            <a:r>
              <a:t>Pause. Tell students what they will be able to explain after this block.</a:t>
            </a:r>
          </a:p>
          <a:p>
            <a:r>
              <a:t>Do not dive into syntax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PAYMENTPROCESSOR</a:t>
            </a:r>
          </a:p>
          <a:p>
            <a:r>
              <a:t>Objective: See SRP / SoC — processing messages ≠ owning line items.</a:t>
            </a:r>
          </a:p>
          <a:p>
            <a:r>
              <a:t>Why: Delegation lets Order request payment without owning rail messaging.</a:t>
            </a:r>
          </a:p>
          <a:p>
            <a:r>
              <a:t>Analogy: A restaurant runner takes the bill to the till; the chef does not swipe cards.</a:t>
            </a:r>
          </a:p>
          <a:p>
            <a:r>
              <a:t>Live coding: Open PaymentProcessor.java; trace method → processPayment → prints.</a:t>
            </a:r>
          </a:p>
          <a:p>
            <a:r>
              <a:t>Ask: Could Order print these lines itself? Yes — why don't we prefer that?</a:t>
            </a:r>
          </a:p>
          <a:p>
            <a:r>
              <a:t>Transition: Order.checkout wires total + processor +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ORDER.CHECKOUT</a:t>
            </a:r>
          </a:p>
          <a:p>
            <a:r>
              <a:t>Objective: Trace the orchestration path end to end.</a:t>
            </a:r>
          </a:p>
          <a:p>
            <a:r>
              <a:t>Concepts: delegation, SoC, SRP, DRY, composition of payment.</a:t>
            </a:r>
          </a:p>
          <a:p>
            <a:r>
              <a:t>Live coding: Open Order.checkout; then PayNestApplication Capstone 2 block; run demo.</a:t>
            </a:r>
          </a:p>
          <a:p>
            <a:r>
              <a:t>Common mistakes: Recalculating total differently for payment; hard-coding amount 12400.</a:t>
            </a:r>
          </a:p>
          <a:p>
            <a:r>
              <a:t>Ask: If Mouse quantity changes, does checkout still charge the right amount? Why?</a:t>
            </a:r>
          </a:p>
          <a:p>
            <a:r>
              <a:t>Transition: Design without proof regresses — tests freeze the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EXPECTED OUTPUT</a:t>
            </a:r>
          </a:p>
          <a:p>
            <a:r>
              <a:t>Live coding: run mvn exec:java; reconcile Mouse 200×2 and grand total by hand.</a:t>
            </a:r>
          </a:p>
          <a:p>
            <a:r>
              <a:t>Swap to EftPayment and show only the rail label changes.</a:t>
            </a:r>
          </a:p>
          <a:p>
            <a:r>
              <a:t>Ask: Which number must never silently diverge — summary total or payment amount?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SRP / SoC TABLE</a:t>
            </a:r>
          </a:p>
          <a:p>
            <a:r>
              <a:t>Objective: Map classes to single clear jobs.</a:t>
            </a:r>
          </a:p>
          <a:p>
            <a:r>
              <a:t>Package boundaries: domain vs payment vs app.</a:t>
            </a:r>
          </a:p>
          <a:p>
            <a:r>
              <a:t>Transition: Business rules and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OPENER — Block 6</a:t>
            </a:r>
          </a:p>
          <a:p>
            <a:r>
              <a:t>Objective: Lock business rules with unit tests across ≥2 rails and Capstone 1 regression.</a:t>
            </a:r>
          </a:p>
          <a:p>
            <a:r>
              <a:t>Pause. Tell students what they will be able to explain after this block.</a:t>
            </a:r>
          </a:p>
          <a:p>
            <a:r>
              <a:t>Do not dive into syntax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RULES</a:t>
            </a:r>
          </a:p>
          <a:p>
            <a:r>
              <a:t>Objective: Tie design choices to merchant-visible truth.</a:t>
            </a:r>
          </a:p>
          <a:p>
            <a:r>
              <a:t>Why: Architecture that violates business rules is still wrong.</a:t>
            </a:r>
          </a:p>
          <a:p>
            <a:r>
              <a:t>DRY: one total path shared by summary and checkout.</a:t>
            </a:r>
          </a:p>
          <a:p>
            <a:r>
              <a:t>Ask: Where would a silent discount bug hide?</a:t>
            </a:r>
          </a:p>
          <a:p>
            <a:r>
              <a:t>Transition: Tests prove rails and protect Capstone 1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</a:t>
            </a:r>
          </a:p>
          <a:p>
            <a:r>
              <a:t>Objective: Distinguish unit proof of polymorphism from C1 regression.</a:t>
            </a:r>
          </a:p>
          <a:p>
            <a:r>
              <a:t>Why: Without tests, a 'clean' interface can still be unused at call sites.</a:t>
            </a:r>
          </a:p>
          <a:p>
            <a:r>
              <a:t>Live coding: Open OrderTest; note absence of payment tests as a gap students fill.</a:t>
            </a:r>
          </a:p>
          <a:p>
            <a:r>
              <a:t>Common mistakes: Only testing CardPayment; testing getPaymentType in isolation only.</a:t>
            </a:r>
          </a:p>
          <a:p>
            <a:r>
              <a:t>Ask: Why is one rail in tests not enough for the rubric?</a:t>
            </a:r>
          </a:p>
          <a:p>
            <a:r>
              <a:t>Transition: Sketch a test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 — TESTS</a:t>
            </a:r>
          </a:p>
          <a:p>
            <a:r>
              <a:t>Guide: assert totals still 12400; assert getPaymentType labels; optionally capture stdout.</a:t>
            </a:r>
          </a:p>
          <a:p>
            <a:r>
              <a:t>Do not hard-code payment amount separate from calculateTotal().</a:t>
            </a:r>
          </a:p>
          <a:p>
            <a:r>
              <a:t>Transition: Markers score the same story — Block 7 rubric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OPENER — Block 7</a:t>
            </a:r>
          </a:p>
          <a:p>
            <a:r>
              <a:t>Objective: Map every lesson concept onto Capstone 2 assessment weights.</a:t>
            </a:r>
          </a:p>
          <a:p>
            <a:r>
              <a:t>Pause. Tell students what they will be able to explain after this block.</a:t>
            </a:r>
          </a:p>
          <a:p>
            <a:r>
              <a:t>Do not dive into syntax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RUBRIC MAP</a:t>
            </a:r>
          </a:p>
          <a:p>
            <a:r>
              <a:t>Objective: Students can explain how SE concepts map to Capstone 2 scoring.</a:t>
            </a:r>
          </a:p>
          <a:p>
            <a:r>
              <a:t>Walk each row; connect to a slide from earlier in the lesson.</a:t>
            </a:r>
          </a:p>
          <a:p>
            <a:r>
              <a:t>Ask: Which weight rewards 'it works in the demo' vs 'it can grow'?</a:t>
            </a:r>
          </a:p>
          <a:p>
            <a:r>
              <a:t>Transition: Distinction signal — timed BNPL.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DISTINCTION</a:t>
            </a:r>
          </a:p>
          <a:p>
            <a:r>
              <a:t>Optional in-class sprint: 10 minutes to sketch BNPL class on paper.</a:t>
            </a:r>
          </a:p>
          <a:p>
            <a:r>
              <a:t>Transition: Closing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GLOSSARY — leave up during Q&amp;A or print as handout from speaker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</a:t>
            </a:r>
          </a:p>
          <a:p>
            <a:r>
              <a:t>Use mid-lesson or as a closing checklist before students start Capstone 2 alone.</a:t>
            </a:r>
          </a:p>
          <a:p>
            <a:r>
              <a:t>Ask students to mark which mistake they are most tempted 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 BANK</a:t>
            </a:r>
          </a:p>
          <a:p>
            <a:r>
              <a:t>Park this slide for cold-call moments; answers appear in earlier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 SLIDE — for lecturer; skip or show briefly at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</a:t>
            </a:r>
          </a:p>
          <a:p>
            <a:r>
              <a:t>Point to assessment brief and optional DDD live session for deeper language.</a:t>
            </a:r>
          </a:p>
          <a:p>
            <a:r>
              <a:t>Remind: mvn test; demo with polymorphic checkout; short design note for docs marks.</a:t>
            </a:r>
          </a:p>
          <a:p>
            <a:r>
              <a:t>Thank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0" y="1097280"/>
            <a:ext cx="3291840" cy="4663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0" y="1463040"/>
            <a:ext cx="2560320" cy="3931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132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Poppins"/>
              </a:defRPr>
            </a:pPr>
            <a:r>
              <a:t>CAPSTONE 2  ·  LIVE LESSON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7132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Poppins"/>
              </a:defRPr>
            </a:pPr>
            <a:r>
              <a:t>From Design Pain</a:t>
            </a:r>
            <a:br/>
            <a:r>
              <a:t>to Interfaces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6858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Lato"/>
              </a:defRPr>
            </a:pPr>
            <a:r>
              <a:t>A software engineering class — not a Java syntax class.</a:t>
            </a:r>
            <a:br/>
            <a:r>
              <a:t>2–3 hours · live walkthrough of the PayNest solution.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PayNest · Second-year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Where we are going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Design problem first. Syntax last.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02920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5623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Lato"/>
              </a:defRPr>
            </a:pPr>
            <a:r>
              <a:t>15m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856232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Capstone 1 recap — objects you already 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13432"/>
            <a:ext cx="502920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9152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386584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Lato"/>
              </a:defRPr>
            </a:pPr>
            <a:r>
              <a:t>25m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386584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Why software changes — the if/else trap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43784"/>
            <a:ext cx="502920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89504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16936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Lato"/>
              </a:defRPr>
            </a:pPr>
            <a:r>
              <a:t>20m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91693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Responsibility, cohesion, coupling, composition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74135"/>
            <a:ext cx="502920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19855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447287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Lato"/>
              </a:defRPr>
            </a:pPr>
            <a:r>
              <a:t>25m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447287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Abstractions &amp; the PaymentMethod contract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04487"/>
            <a:ext cx="502920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50207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977639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Lato"/>
              </a:defRPr>
            </a:pPr>
            <a:r>
              <a:t>30m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977639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Polymorphism, OCP, DIP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434840"/>
            <a:ext cx="502920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48056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50799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Lato"/>
              </a:defRPr>
            </a:pPr>
            <a:r>
              <a:t>20m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507992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Processor, checkout, separation of concerns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965192"/>
            <a:ext cx="502920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010912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038344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Lato"/>
              </a:defRPr>
            </a:pPr>
            <a:r>
              <a:t>20m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5038344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Business rules, DRY, testing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495544"/>
            <a:ext cx="502920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541264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568696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Lato"/>
              </a:defRPr>
            </a:pPr>
            <a:r>
              <a:t>15m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5686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Map everything to the Capstone 2 rubric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This is not 'today we learn interfaces'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9496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4B8A6"/>
                </a:solidFill>
                <a:latin typeface="Poppins"/>
              </a:defRPr>
            </a:pPr>
            <a:r>
              <a:t>We will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6634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Lato"/>
              </a:defRPr>
            </a:pPr>
            <a:r>
              <a:t>Start with interface keyword quizzes</a:t>
            </a:r>
            <a:br/>
            <a:r>
              <a:t>Memorise SOLID acronyms first</a:t>
            </a:r>
            <a:br/>
            <a:r>
              <a:t>Treat Capstone 2 as busywork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394960" cy="3840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Poppins"/>
              </a:defRPr>
            </a:pPr>
            <a:r>
              <a:t>We WILL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834640"/>
            <a:ext cx="46634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Lato"/>
              </a:defRPr>
            </a:pPr>
            <a:r>
              <a:t>Start from a business change request</a:t>
            </a:r>
            <a:br/>
            <a:r>
              <a:t>Feel why tightly coupled code hurts</a:t>
            </a:r>
            <a:br/>
            <a:r>
              <a:t>Discover abstractions as a design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Poppins"/>
              </a:defRPr>
            </a:pPr>
            <a:r>
              <a:t>BLOCK 0  ·  ~15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Capstone 1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Lato"/>
              </a:defRPr>
            </a:pPr>
            <a:r>
              <a:t>Learning objective: Reconnect objects, encapsulation, and trustworthy totals before payment pressure arrives.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0 ·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You already know these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Capstone 2 reuses them under new pressure.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6974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6974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Classes &amp;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Blueprints and instances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920240"/>
            <a:ext cx="26974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920240"/>
            <a:ext cx="26974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2402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Constructors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260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Valid starting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20240"/>
            <a:ext cx="26974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920240"/>
            <a:ext cx="26974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2402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Encapsulation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260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Private fields, controlled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920240"/>
            <a:ext cx="26974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920240"/>
            <a:ext cx="26974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2402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Getters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9260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Safe read of state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31920"/>
            <a:ext cx="26974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931920"/>
            <a:ext cx="26974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2519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Lists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377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Order lines collection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3931920"/>
            <a:ext cx="26974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0" y="3931920"/>
            <a:ext cx="26974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42519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Totals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9377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OrderItem + Order math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931920"/>
            <a:ext cx="26974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931920"/>
            <a:ext cx="26974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2519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Maven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9377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Build &amp; run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931920"/>
            <a:ext cx="26974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3931920"/>
            <a:ext cx="26974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42519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JUnit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9377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Prove behaviour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0 · LIVE WALK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Capstone 1 in one breath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Open PayNestApplication — lines building the order desk.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76656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6309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F8FAFC"/>
                </a:solidFill>
                <a:latin typeface="Courier New"/>
              </a:defRPr>
            </a:pPr>
            <a:r>
              <a:t>Product laptop = new Product(1, "Laptop", 12000);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Product mouse  = new Product(2, "Mouse", 200);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Customer c = new Customer(1, "John Smith", ...);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Order order = orderService.createOrder(1, c);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orderService.addProductsToOrder(order, laptop, 1);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orderService.addProductsToOrder(order, mouse, 2);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order.printSummary();  // Total: R12400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828800"/>
            <a:ext cx="39319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0574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Poppins"/>
              </a:defRPr>
            </a:pPr>
            <a:r>
              <a:t>Trust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606040"/>
            <a:ext cx="34747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475569"/>
                </a:solidFill>
                <a:latin typeface="Lato"/>
              </a:defRPr>
            </a:pPr>
            <a:r>
              <a:t>Objects hold real data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  <a:latin typeface="Lato"/>
              </a:defRPr>
            </a:pPr>
            <a:r>
              <a:t>Encapsulation hides lists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  <a:latin typeface="Lato"/>
              </a:defRPr>
            </a:pPr>
            <a:r>
              <a:t>One path for grand total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  <a:latin typeface="Lato"/>
              </a:defRPr>
            </a:pPr>
            <a:r>
              <a:t>Receipt matches math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Poppins"/>
              </a:defRPr>
            </a:pPr>
            <a:r>
              <a:t>Ops wants card, EFT, and wallet.</a:t>
            </a:r>
            <a:br/>
            <a:r>
              <a:t>What breaks if we hard-code that?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14B8A6"/>
                </a:solidFill>
                <a:latin typeface="Lato"/>
              </a:defRPr>
            </a:pPr>
            <a:r>
              <a:t>Hold that question. We will design the wrong way first — on purpose.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Poppins"/>
              </a:defRPr>
            </a:pPr>
            <a:r>
              <a:t>BLOCK 1  ·  ~25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Why software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Lato"/>
              </a:defRPr>
            </a:pPr>
            <a:r>
              <a:t>Learning objective: Explain change pressure and why tightly coupled checkout is hard to maintain.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1 ·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Why software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Working code is not finished code — the business keeps asking.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5661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56616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Poppins"/>
              </a:defRPr>
            </a:pPr>
            <a:r>
              <a:t>New channels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Card today. Wallet tomorrow. BNPL next sprint.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5661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011680"/>
            <a:ext cx="356616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77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Poppins"/>
              </a:defRPr>
            </a:pPr>
            <a:r>
              <a:t>Ops pressure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9184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Three copy-pasted checkout paths = three bug farms.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2011680"/>
            <a:ext cx="35661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9" y="2011680"/>
            <a:ext cx="356616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9" y="2377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Poppins"/>
              </a:defRPr>
            </a:pPr>
            <a:r>
              <a:t>Same money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9" y="329184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Product pitch: same order total; only the rail changes.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1 · ANTI-PATTERN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The tempting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One method. Three rails. Plenty of if/else.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7315200" cy="4206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6858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F8FAFC"/>
                </a:solidFill>
                <a:latin typeface="Courier New"/>
              </a:defRPr>
            </a:pPr>
            <a:r>
              <a:t>// DO NOT ship this — teaching anti-pattern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void checkout(String type) {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double total = calculateTotal();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if (type.equals("CARD")) {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  System.out.println("Charging card...");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  // card-specific logic...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} else if (type.equals("EFT")) {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  // eft-specific logic...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} else if (type.equals("WALLET")) {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  // wallet-specific logic...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783080"/>
            <a:ext cx="33832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201168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91C1C"/>
                </a:solidFill>
                <a:latin typeface="Poppins"/>
              </a:defRPr>
            </a:pPr>
            <a:r>
              <a:t>Smell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560320"/>
            <a:ext cx="30175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475569"/>
                </a:solidFill>
                <a:latin typeface="Lato"/>
              </a:defRPr>
            </a:pPr>
            <a:r>
              <a:t>Order knows every rail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  <a:latin typeface="Lato"/>
              </a:defRPr>
            </a:pPr>
            <a:r>
              <a:t>New rail = edit Order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  <a:latin typeface="Lato"/>
              </a:defRPr>
            </a:pPr>
            <a:r>
              <a:t>Strings are fragile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  <a:latin typeface="Lato"/>
              </a:defRPr>
            </a:pPr>
            <a:r>
              <a:t>Messaging duplicated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STUDENT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Exercise: add Buy Now Pay Later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" cy="4023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Poppins"/>
              </a:defRPr>
            </a:pPr>
            <a:r>
              <a:t>4–5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0584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0F172A"/>
                </a:solidFill>
                <a:latin typeface="Lato"/>
              </a:defRPr>
            </a:pPr>
            <a:r>
              <a:t>Using the if/else checkout, list every line or place you must touch to add BuyNowPayLater.</a:t>
            </a:r>
            <a:br/>
            <a:br/>
            <a:r>
              <a:t>Include: Order method, messages, possible typos in string labels, tests, demo wiring.</a:t>
            </a:r>
            <a:br/>
            <a:br/>
            <a:r>
              <a:t>Be specific. Write the 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1 · COUPLING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Tight coupling hurts maintainability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When A cannot change without rewriting B, they are glued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19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Poppins"/>
              </a:defRPr>
            </a:pPr>
            <a:r>
              <a:t>Tight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103119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Order hard-codes CARD / EFT / WALLET branches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1088136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Poppins"/>
              </a:defRPr>
            </a:pPr>
            <a:r>
              <a:t>Loose (goal)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10896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Order asks any payment rail to process(amount)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86200"/>
            <a:ext cx="1088136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Poppins"/>
              </a:defRPr>
            </a:pPr>
            <a:r>
              <a:t>Symptom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11480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Every new rail reopens a 'finished' class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92040"/>
            <a:ext cx="1088136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Poppins"/>
              </a:defRPr>
            </a:pPr>
            <a:r>
              <a:t>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512064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Regression in totals while editing payment noise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Poppins"/>
              </a:defRPr>
            </a:pPr>
            <a:r>
              <a:t>BLOCK 2  ·  ~20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Responsibility &amp;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Lato"/>
              </a:defRPr>
            </a:pPr>
            <a:r>
              <a:t>Learning objective: Name responsibility, cohesion, coupling, and composition using Capstone 1 code.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2 · 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Responsibility: what is Order for?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Capstone 1 already answered — protect that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3931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Poppins"/>
              </a:defRPr>
            </a:pPr>
            <a:r>
              <a:t>Order SHOULD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7548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8FAFC"/>
                </a:solidFill>
                <a:latin typeface="Lato"/>
              </a:defRPr>
            </a:pPr>
            <a:r>
              <a:t>Own its line items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  <a:latin typeface="Lato"/>
              </a:defRPr>
            </a:pPr>
            <a:r>
              <a:t>Validate adds via OrderItem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  <a:latin typeface="Lato"/>
              </a:defRPr>
            </a:pPr>
            <a:r>
              <a:t>Calculate the grand total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  <a:latin typeface="Lato"/>
              </a:defRPr>
            </a:pPr>
            <a:r>
              <a:t>Print a reconcilable summary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3931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  <a:latin typeface="Poppins"/>
              </a:defRPr>
            </a:pPr>
            <a:r>
              <a:t>Order should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47548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8FAFC"/>
                </a:solidFill>
                <a:latin typeface="Lato"/>
              </a:defRPr>
            </a:pPr>
            <a:r>
              <a:t>Know card network quirks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  <a:latin typeface="Lato"/>
              </a:defRPr>
            </a:pPr>
            <a:r>
              <a:t>Hard-code rail labels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  <a:latin typeface="Lato"/>
              </a:defRPr>
            </a:pPr>
            <a:r>
              <a:t>Duplicate total math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  <a:latin typeface="Lato"/>
              </a:defRPr>
            </a:pPr>
            <a:r>
              <a:t>Become a payment god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2 · COHESION &amp; COUPLING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Cohesion up. Coupling down.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949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Poppins"/>
              </a:defRPr>
            </a:pPr>
            <a:r>
              <a:t>High cohesion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8463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Methods in a class work on the same job.</a:t>
            </a:r>
            <a:br/>
            <a:br/>
            <a:r>
              <a:t>OrderItem: quantity × product price.</a:t>
            </a:r>
            <a:br/>
            <a:r>
              <a:t>Order: collection of lines + grand total.</a:t>
            </a:r>
            <a:br/>
            <a:br/>
            <a:r>
              <a:t>Everything in the class pulls in the same direction.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3949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Poppins"/>
              </a:defRPr>
            </a:pPr>
            <a:r>
              <a:t>Low coupling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51760"/>
            <a:ext cx="48463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Classes depend on as little as possible.</a:t>
            </a:r>
            <a:br/>
            <a:br/>
            <a:r>
              <a:t>Prefer: depend on a small contract.</a:t>
            </a:r>
            <a:br/>
            <a:r>
              <a:t>Avoid: depend on every concrete rail.</a:t>
            </a:r>
            <a:br/>
            <a:br/>
            <a:r>
              <a:t>Change stays local when coupling is 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2 ·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Composition: Order has OrderItems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We build systems by combining objects — not by inheriting everything.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858000" cy="3931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64008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8FAFC"/>
                </a:solidFill>
                <a:latin typeface="Courier New"/>
              </a:defRPr>
            </a:pPr>
            <a:r>
              <a:t>public class Order {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private final Customer customer;     // has-a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private final List&lt;OrderItem&gt; items; // has-many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public void addItem(Product p, int qty) {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  items.add(new OrderItem(p, qty));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public List&lt;OrderItem&gt; getItems() {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  return Collections.unmodifiableList(items);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828800"/>
            <a:ext cx="38404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103120"/>
            <a:ext cx="33832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475569"/>
                </a:solidFill>
                <a:latin typeface="Lato"/>
              </a:defRPr>
            </a:pPr>
            <a:r>
              <a:t>Customer referenced, not subclassed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  <a:latin typeface="Lato"/>
              </a:defRPr>
            </a:pPr>
            <a:r>
              <a:t>Items owned privately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  <a:latin typeface="Lato"/>
              </a:defRPr>
            </a:pPr>
            <a:r>
              <a:t>Callers cannot clear() the list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  <a:latin typeface="Lato"/>
              </a:defRPr>
            </a:pPr>
            <a:r>
              <a:t>Checkout should compose a payment capability the same 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STUDENT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Exercise: name the smell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" cy="4023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Poppins"/>
              </a:defRPr>
            </a:pPr>
            <a:r>
              <a:t>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0584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0F172A"/>
                </a:solidFill>
                <a:latin typeface="Lato"/>
              </a:defRPr>
            </a:pPr>
            <a:r>
              <a:t>In pairs, label the anti-pattern checkout with these words:</a:t>
            </a:r>
            <a:br/>
            <a:r>
              <a:t>responsibility · cohesion · coupling · composition</a:t>
            </a:r>
            <a:br/>
            <a:br/>
            <a:r>
              <a:t>One sentence each. Be ready to share.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Poppins"/>
              </a:defRPr>
            </a:pPr>
            <a:r>
              <a:t>BLOCK 3  ·  ~25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Abstractions &amp;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Lato"/>
              </a:defRPr>
            </a:pPr>
            <a:r>
              <a:t>Learning objective: Derive a shared payment contract and program to that abstraction.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3 · ABSTRACTION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What do all payment rails share?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Abstract thinking: ignore differences; keep the essential behaviour.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0F172A"/>
                </a:solidFill>
                <a:latin typeface="Lato"/>
              </a:defRPr>
            </a:pPr>
            <a:r>
              <a:t>Every rail must: (1) accept an amount in Rand and attempt to charge it,</a:t>
            </a:r>
            <a:br/>
            <a:r>
              <a:t>and (2) identify itself with a stable human-readable label for receipts and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0"/>
            <a:ext cx="2697480" cy="13716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4114800"/>
            <a:ext cx="2697480" cy="13716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44805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EFT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114800"/>
            <a:ext cx="2697480" cy="13716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4805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Wallet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4114800"/>
            <a:ext cx="2697480" cy="13716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4805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BNPL?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STUDENT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Exercise: write the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" cy="4023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Poppins"/>
              </a:defRPr>
            </a:pPr>
            <a:r>
              <a:t>3–4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0584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0F172A"/>
                </a:solidFill>
                <a:latin typeface="Lato"/>
              </a:defRPr>
            </a:pPr>
            <a:r>
              <a:t>Before we open the file, write two method signatures that every payment rail must provide.</a:t>
            </a:r>
            <a:br/>
            <a:br/>
            <a:r>
              <a:t>Hint: charge an amount · describe yourself.</a:t>
            </a:r>
            <a:br/>
            <a:br/>
            <a:r>
              <a:t>Do not peek at PaymentMethod.java yet.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3 ·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PaymentMethod — the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An interface is a promise: any implementer can be used where this type is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69494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64922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800" b="0">
                <a:solidFill>
                  <a:srgbClr val="F8FAFC"/>
                </a:solidFill>
                <a:latin typeface="Courier New"/>
              </a:defRPr>
            </a:pPr>
            <a:r>
              <a:t>public interface PaymentMethod {</a:t>
            </a:r>
          </a:p>
          <a:p>
            <a:pPr>
              <a:spcAft>
                <a:spcPts val="200"/>
              </a:spcAft>
              <a:defRPr sz="1800">
                <a:solidFill>
                  <a:srgbClr val="F8FAFC"/>
                </a:solidFill>
                <a:latin typeface="Courier New"/>
              </a:defRPr>
            </a:pPr>
            <a:r>
              <a:t>  boolean processPayment(double amount);</a:t>
            </a:r>
          </a:p>
          <a:p>
            <a:pPr>
              <a:spcAft>
                <a:spcPts val="200"/>
              </a:spcAft>
              <a:defRPr sz="1800">
                <a:solidFill>
                  <a:srgbClr val="F8FAFC"/>
                </a:solidFill>
                <a:latin typeface="Courier New"/>
              </a:defRPr>
            </a:pPr>
            <a:r>
              <a:t>  String getPaymentType();</a:t>
            </a:r>
          </a:p>
          <a:p>
            <a:pPr>
              <a:spcAft>
                <a:spcPts val="200"/>
              </a:spcAft>
              <a:defRPr sz="1800">
                <a:solidFill>
                  <a:srgbClr val="F8FAFC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783080"/>
            <a:ext cx="3749039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103120"/>
            <a:ext cx="32918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475569"/>
                </a:solidFill>
                <a:latin typeface="Lato"/>
              </a:defRPr>
            </a:pPr>
            <a:r>
              <a:t>No rail details here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No if/else here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Callers depend on this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File: payment/PaymentMethod.java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3 · IMPLEMENTATIONS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Three workers. One job description.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66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5661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Poppins"/>
              </a:defRPr>
            </a:pPr>
            <a:r>
              <a:t>CardPayment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834640"/>
            <a:ext cx="201168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0779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ato"/>
              </a:defRPr>
            </a:pPr>
            <a:r>
              <a:t>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Credit/debit simulation</a:t>
            </a:r>
            <a:br/>
            <a:br/>
            <a:r>
              <a:t>implements PaymentMethod</a:t>
            </a:r>
            <a:br/>
            <a:r>
              <a:t>processPayment → true</a:t>
            </a:r>
            <a:br/>
            <a:r>
              <a:t>getPaymentType → "CARD"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566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35661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488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Poppins"/>
              </a:defRPr>
            </a:pPr>
            <a:r>
              <a:t>EftPayment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834640"/>
            <a:ext cx="201168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90779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ato"/>
              </a:defRPr>
            </a:pPr>
            <a:r>
              <a:t>EFT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657600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Bank transfer simulation</a:t>
            </a:r>
            <a:br/>
            <a:br/>
            <a:r>
              <a:t>implements PaymentMethod</a:t>
            </a:r>
            <a:br/>
            <a:r>
              <a:t>processPayment → true</a:t>
            </a:r>
            <a:br/>
            <a:r>
              <a:t>getPaymentType → "EFT"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828800"/>
            <a:ext cx="3566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59" y="1828800"/>
            <a:ext cx="35661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59" y="21488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Poppins"/>
              </a:defRPr>
            </a:pPr>
            <a:r>
              <a:t>WalletPayment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59" y="2834640"/>
            <a:ext cx="201168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290779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Lato"/>
              </a:defRPr>
            </a:pPr>
            <a:r>
              <a:t>WALLET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3657600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In-app balance simulation</a:t>
            </a:r>
            <a:br/>
            <a:br/>
            <a:r>
              <a:t>implements PaymentMethod</a:t>
            </a:r>
            <a:br/>
            <a:r>
              <a:t>processPayment → true</a:t>
            </a:r>
            <a:br/>
            <a:r>
              <a:t>getPaymentType → "WALLET"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3 · DIP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Program to abstractions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Dependency Inversion: high-level checkout depends on PaymentMethod, not CardPayment.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3931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Poppins"/>
              </a:defRPr>
            </a:pPr>
            <a:r>
              <a:t>Fragile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8463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8FAFC"/>
                </a:solidFill>
                <a:latin typeface="Courier New"/>
              </a:defRPr>
            </a:pPr>
            <a:r>
              <a:t>void checkout(CardPayment card) {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card.processPayment(total);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// Locked to one concrete class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394960" cy="3931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Poppins"/>
              </a:defRPr>
            </a:pPr>
            <a:r>
              <a:t>Stable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8463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8FAFC"/>
                </a:solidFill>
                <a:latin typeface="Courier New"/>
              </a:defRPr>
            </a:pPr>
            <a:r>
              <a:t>void checkout(PaymentMethod m) {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// any rail works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...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// Depends on the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Poppins"/>
              </a:defRPr>
            </a:pPr>
            <a:r>
              <a:t>BLOCK 4  ·  ~30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Polymorphism &amp; SOLID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Lato"/>
              </a:defRPr>
            </a:pPr>
            <a:r>
              <a:t>Learning objective: Use polymorphism and dynamic dispatch to remove switches; recognise OCP and DIP.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4 · POLYMORPHISM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Same call site. Different behaviour.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Polymorphism removes the if/switch from checkout.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2412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8FAFC"/>
                </a:solidFill>
                <a:latin typeface="Courier New"/>
              </a:defRPr>
            </a:pPr>
            <a:r>
              <a:t>PaymentMethod paymentMethod = new CardPayment();</a:t>
            </a: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  <a:r>
              <a:t>order.checkout(paymentMethod);</a:t>
            </a: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  <a:r>
              <a:t>// Swap the rail — checkout code does not change:</a:t>
            </a: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  <a:r>
              <a:t>PaymentMethod paymentMethod = new EftPayment();</a:t>
            </a: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  <a:r>
              <a:t>order.checkout(paymentMethod);</a:t>
            </a: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  <a:r>
              <a:t>// Runtime picks CardPayment.processPayment or EftPayment.processPayment</a:t>
            </a: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  <a:r>
              <a:t>// That selection is dynamic dispatch.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4 · DYNAMIC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Dynamic dispatch (without the scary jargon)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At runtime, Java asks the actual object: which processPayment should run?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640080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Poppin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745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Poppins"/>
              </a:defRPr>
            </a:pPr>
            <a:r>
              <a:t>Compile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9456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Variable type is PaymentMethod — only interface methods allowed.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39"/>
            <a:ext cx="640080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19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Poppin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26079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Poppins"/>
              </a:defRPr>
            </a:pPr>
            <a:r>
              <a:t>Runtime 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46119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Heap holds a CardPayment or EftPayment instance.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640080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97764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Poppins"/>
              </a:defRPr>
            </a:pPr>
            <a:r>
              <a:t>Dispatch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297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method.processPayment(amount) jumps to that class's override.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37759"/>
            <a:ext cx="640080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20639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Poppin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29199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Poppin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349239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Checkout stays one path; behaviour varies by object.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4 · OPEN/CLOSED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Open/Closed Principle emerges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Open for extension. Closed for modification of Order's core arithmetic.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3931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Poppins"/>
              </a:defRPr>
            </a:pPr>
            <a:r>
              <a:t>Open for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846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Lato"/>
              </a:defRPr>
            </a:pPr>
            <a:r>
              <a:t>Add BuyNowPayLaterPayment</a:t>
            </a:r>
            <a:br/>
            <a:r>
              <a:t>as a new class that</a:t>
            </a:r>
            <a:br/>
            <a:r>
              <a:t>implements PaymentMethod.</a:t>
            </a:r>
            <a:br/>
            <a:br/>
            <a:r>
              <a:t>Wire it in the demo.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394960" cy="3931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4B8A6"/>
                </a:solidFill>
                <a:latin typeface="Poppins"/>
              </a:defRPr>
            </a:pPr>
            <a:r>
              <a:t>Closed for modification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846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Lato"/>
              </a:defRPr>
            </a:pPr>
            <a:r>
              <a:t>Do not reopen</a:t>
            </a:r>
            <a:br/>
            <a:r>
              <a:t>Order.calculateTotal()</a:t>
            </a:r>
            <a:br/>
            <a:r>
              <a:t>to teach a new rail.</a:t>
            </a:r>
            <a:br/>
            <a:br/>
            <a:r>
              <a:t>Totals stay Capstone 1 truth.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STUDENT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Distinction drill: BNPL file 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" cy="4023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Poppins"/>
              </a:defRPr>
            </a:pPr>
            <a:r>
              <a:t>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0584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0F172A"/>
                </a:solidFill>
                <a:latin typeface="Lato"/>
              </a:defRPr>
            </a:pPr>
            <a:r>
              <a:t>With the interface design, list the files you expect to touch to add BuyNowPayLaterPayment.</a:t>
            </a:r>
            <a:br/>
            <a:br/>
            <a:r>
              <a:t>Which files should stay untouched?</a:t>
            </a:r>
            <a:br/>
            <a:br/>
            <a:r>
              <a:t>Compare to your Block 1 if/else 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Poppins"/>
              </a:defRPr>
            </a:pPr>
            <a:r>
              <a:t>BLOCK 5  ·  ~20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Checkout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Lato"/>
              </a:defRPr>
            </a:pPr>
            <a:r>
              <a:t>Learning objective: Trace PaymentProcessor and Order.checkout as separation of concerns and delegation.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5 · PAYMENTPROCESSOR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Delegation &amp; separation of concerns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PaymentProcessor talks to any PaymentMethod and owns the success/fail narrative.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9728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515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F8FAFC"/>
                </a:solidFill>
                <a:latin typeface="Courier New"/>
              </a:defRPr>
            </a:pPr>
            <a:r>
              <a:t>public void processPayment(PaymentMethod method, double amount) {</a:t>
            </a:r>
          </a:p>
          <a:p>
            <a:pPr>
              <a:spcAft>
                <a:spcPts val="200"/>
              </a:spcAft>
              <a:defRPr sz="1500">
                <a:solidFill>
                  <a:srgbClr val="F8FAFC"/>
                </a:solidFill>
                <a:latin typeface="Courier New"/>
              </a:defRPr>
            </a:pPr>
            <a:r>
              <a:t>  boolean success = method.processPayment(amount);</a:t>
            </a:r>
          </a:p>
          <a:p>
            <a:pPr>
              <a:spcAft>
                <a:spcPts val="200"/>
              </a:spcAft>
              <a:defRPr sz="1500">
                <a:solidFill>
                  <a:srgbClr val="F8FAFC"/>
                </a:solidFill>
                <a:latin typeface="Courier New"/>
              </a:defRPr>
            </a:pPr>
            <a:r>
              <a:t>  if (success) {</a:t>
            </a:r>
          </a:p>
          <a:p>
            <a:pPr>
              <a:spcAft>
                <a:spcPts val="200"/>
              </a:spcAft>
              <a:defRPr sz="1500">
                <a:solidFill>
                  <a:srgbClr val="F8FAFC"/>
                </a:solidFill>
                <a:latin typeface="Courier New"/>
              </a:defRPr>
            </a:pPr>
            <a:r>
              <a:t>    System.out.println("Payment successful via " + method.getPaymentType());</a:t>
            </a:r>
          </a:p>
          <a:p>
            <a:pPr>
              <a:spcAft>
                <a:spcPts val="200"/>
              </a:spcAft>
              <a:defRPr sz="1500">
                <a:solidFill>
                  <a:srgbClr val="F8FAFC"/>
                </a:solidFill>
                <a:latin typeface="Courier New"/>
              </a:defRPr>
            </a:pPr>
            <a:r>
              <a:t>    System.out.println("Amount: R" + String.format("%.0f", amount));</a:t>
            </a:r>
          </a:p>
          <a:p>
            <a:pPr>
              <a:spcAft>
                <a:spcPts val="200"/>
              </a:spcAft>
              <a:defRPr sz="1500">
                <a:solidFill>
                  <a:srgbClr val="F8FAFC"/>
                </a:solidFill>
                <a:latin typeface="Courier New"/>
              </a:defRPr>
            </a:pPr>
            <a:r>
              <a:t>  } else {</a:t>
            </a:r>
          </a:p>
          <a:p>
            <a:pPr>
              <a:spcAft>
                <a:spcPts val="200"/>
              </a:spcAft>
              <a:defRPr sz="1500">
                <a:solidFill>
                  <a:srgbClr val="F8FAFC"/>
                </a:solidFill>
                <a:latin typeface="Courier New"/>
              </a:defRPr>
            </a:pPr>
            <a:r>
              <a:t>    System.out.println("Payment failed via " + method.getPaymentType());</a:t>
            </a:r>
          </a:p>
          <a:p>
            <a:pPr>
              <a:spcAft>
                <a:spcPts val="200"/>
              </a:spcAft>
              <a:defRPr sz="1500">
                <a:solidFill>
                  <a:srgbClr val="F8FAFC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500">
                <a:solidFill>
                  <a:srgbClr val="F8FAFC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5 · ORDER.CHECKOUT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Checkout = total once, then delegate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DRY: the amount charged comes from calculateTotal() — one source of truth.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68580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6400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8FAFC"/>
                </a:solidFill>
                <a:latin typeface="Courier New"/>
              </a:defRPr>
            </a:pPr>
            <a:r>
              <a:t>public void checkout(PaymentMethod paymentMethod) {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double total = calculateTotal();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PaymentProcessor processor = new PaymentProcessor();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processor.processPayment(paymentMethod, total);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System.out.println(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  "Order completed successfully.");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783080"/>
            <a:ext cx="38404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0116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Poppins"/>
              </a:defRPr>
            </a:pPr>
            <a:r>
              <a:t>Teaching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560320"/>
            <a:ext cx="3383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new PaymentProcessor() inside Order is a Capstone 2 trade-off.</a:t>
            </a:r>
            <a:br/>
            <a:br/>
            <a:r>
              <a:t>Later capstones push dependencies further outward (injection / routing).</a:t>
            </a:r>
            <a:br/>
            <a:br/>
            <a:r>
              <a:t>For now: clear demo + correct direction of abstraction.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5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Expected console narrative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Same Capstone 1 summary — then polymorphic payment confirmation.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783080"/>
            <a:ext cx="7589520" cy="4206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2057400"/>
            <a:ext cx="694944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8FAFC"/>
                </a:solidFill>
                <a:latin typeface="Courier New"/>
              </a:defRPr>
            </a:pPr>
            <a:r>
              <a:t>Order Summary</a:t>
            </a: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  <a:r>
              <a:t>Customer: John Smith</a:t>
            </a: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  <a:r>
              <a:t>Items:</a:t>
            </a: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  <a:r>
              <a:t>Laptop x1 - R12000</a:t>
            </a: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  <a:r>
              <a:t>Mouse x2 - R400</a:t>
            </a: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  <a:r>
              <a:t>Total: R12400</a:t>
            </a: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  <a:r>
              <a:t>Payment successful via CARD</a:t>
            </a: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  <a:r>
              <a:t>Amount: R12400</a:t>
            </a: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  <a:r>
              <a:t>Order completed successfully.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5 · SRP &amp;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Who owns what?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88136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Lato"/>
              </a:defRPr>
            </a:pPr>
            <a:r>
              <a:t>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Lato"/>
              </a:defRPr>
            </a:pPr>
            <a:r>
              <a:t>Responsibility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0881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Lato"/>
              </a:defRPr>
            </a:pPr>
            <a:r>
              <a:t>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1460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Lines, totals, summary, start checkout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10881360" cy="777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Lato"/>
              </a:defRPr>
            </a:pPr>
            <a:r>
              <a:t>PaymentMethod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38328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Rail-specific charge + type label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79"/>
            <a:ext cx="10881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51959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Lato"/>
              </a:defRPr>
            </a:pPr>
            <a:r>
              <a:t>PaymentProcessor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251959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Invoke method + print success/fail 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37759"/>
            <a:ext cx="10881360" cy="777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20639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Lato"/>
              </a:defRPr>
            </a:pPr>
            <a:r>
              <a:t>PayNestApplication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120639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Composition root / demo wiring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Poppins"/>
              </a:defRPr>
            </a:pPr>
            <a:r>
              <a:t>BLOCK 6  ·  ~20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Rules, DRY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Lato"/>
              </a:defRPr>
            </a:pPr>
            <a:r>
              <a:t>Learning objective: Lock business rules with unit tests across ≥2 rails and Capstone 1 regression.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6 · BUSINESS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Rules the design must obey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Poppins"/>
              </a:defRPr>
            </a:pPr>
            <a:r>
              <a:t>Amount charged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9659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Lato"/>
              </a:defRPr>
            </a:pPr>
            <a:r>
              <a:t>Equals calculateTotal() for that checkout — no silent discounts.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39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39"/>
            <a:ext cx="109728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71799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Poppins"/>
              </a:defRPr>
            </a:pPr>
            <a:r>
              <a:t>Stable 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17519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Lato"/>
              </a:defRPr>
            </a:pPr>
            <a:r>
              <a:t>CARD / EFT / WALLET — human-readable for logs and receipts.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86200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886200"/>
            <a:ext cx="109728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Poppins"/>
              </a:defRPr>
            </a:pPr>
            <a:r>
              <a:t>One funnel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06908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Lato"/>
              </a:defRPr>
            </a:pPr>
            <a:r>
              <a:t>Checkout accepts PaymentMethod — not a concrete rail type.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37759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937759"/>
            <a:ext cx="109728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74919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Poppins"/>
              </a:defRPr>
            </a:pPr>
            <a:r>
              <a:t>Extension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120639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Lato"/>
              </a:defRPr>
            </a:pPr>
            <a:r>
              <a:t>New rail = new class + wiring — not Order arithmetic edits.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6 ·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Unit tests &amp;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Polymorphism is not proven until ≥2 rails appear in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3949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Poppins"/>
              </a:defRPr>
            </a:pPr>
            <a:r>
              <a:t>Already green (C1)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8463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475569"/>
                </a:solidFill>
                <a:latin typeface="Lato"/>
              </a:defRPr>
            </a:pPr>
            <a:r>
              <a:t>OrderTest totals &amp; quantities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Unmodifiable getItems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OrderItem / OrderService tests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Regression: must stay green after C2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394960" cy="4023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Poppins"/>
              </a:defRPr>
            </a:pPr>
            <a:r>
              <a:t>Still required (C2)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8463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8FAFC"/>
                </a:solidFill>
                <a:latin typeface="Lato"/>
              </a:defRPr>
            </a:pPr>
            <a:r>
              <a:t>Checkout with CardPayment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Lato"/>
              </a:defRPr>
            </a:pPr>
            <a:r>
              <a:t>Checkout with a second rail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Lato"/>
              </a:defRPr>
            </a:pPr>
            <a:r>
              <a:t>Prove interface type is used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Lato"/>
              </a:defRPr>
            </a:pPr>
            <a:r>
              <a:t>mvn test passes on the branch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STUDENT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Exercise: sketch two-rail tests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" cy="4023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Poppins"/>
              </a:defRPr>
            </a:pPr>
            <a:r>
              <a:t>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0584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0F172A"/>
                </a:solidFill>
                <a:latin typeface="Lato"/>
              </a:defRPr>
            </a:pPr>
            <a:r>
              <a:t>On paper, outline JUnit tests that:</a:t>
            </a:r>
            <a:br/>
            <a:r>
              <a:t>1) Build the laptop+mouse order (R12400)</a:t>
            </a:r>
            <a:br/>
            <a:r>
              <a:t>2) Checkout with CardPayment</a:t>
            </a:r>
            <a:br/>
            <a:r>
              <a:t>3) Checkout with WalletPayment (fresh order or reset)</a:t>
            </a:r>
            <a:br/>
            <a:br/>
            <a:r>
              <a:t>What would you assert? What would you deliberately NOT hard-code?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Poppins"/>
              </a:defRPr>
            </a:pPr>
            <a:r>
              <a:t>BLOCK 7  ·  ~15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Rubric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Lato"/>
              </a:defRPr>
            </a:pPr>
            <a:r>
              <a:t>Learning objective: Map every lesson concept onto Capstone 2 assessment weights.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7 ·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How today's concepts become 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88136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Lato"/>
              </a:defRPr>
            </a:pPr>
            <a: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75564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Lato"/>
              </a:defRPr>
            </a:pPr>
            <a:r>
              <a:t>Wt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75564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Lato"/>
              </a:defRPr>
            </a:pPr>
            <a:r>
              <a:t>Concepts from this lesson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108813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Lato"/>
              </a:defRPr>
            </a:pPr>
            <a:r>
              <a:t>Architecture &amp; polymorphism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37744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Lato"/>
              </a:defRPr>
            </a:pPr>
            <a: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37744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Interface, DIP, OCP, no type switches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71800"/>
            <a:ext cx="10881360" cy="65836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Lato"/>
              </a:defRPr>
            </a:pPr>
            <a:r>
              <a:t>Correctness &amp; business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10896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Lato"/>
              </a:defRPr>
            </a:pPr>
            <a: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10896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Total → amount; labels; success path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03320"/>
            <a:ext cx="108813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Lato"/>
              </a:defRPr>
            </a:pPr>
            <a:r>
              <a:t>Testing &amp;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84048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Lato"/>
              </a:defRPr>
            </a:pPr>
            <a: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84048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≥2 rails; C1 regression; mvn 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34840"/>
            <a:ext cx="10881360" cy="65836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Lato"/>
              </a:defRPr>
            </a:pPr>
            <a:r>
              <a:t>Code quality &amp; maintainability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57200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Lato"/>
              </a:defRPr>
            </a:pPr>
            <a: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57200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SRP, DRY, cohesion, packages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166360"/>
            <a:ext cx="108813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2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Lato"/>
              </a:defRPr>
            </a:pPr>
            <a:r>
              <a:t>Documentation &amp; communication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530352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Lato"/>
              </a:defRPr>
            </a:pPr>
            <a: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30352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Why interfaces; new-rail 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BLOCK 7 ·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Level 4 signal: timed BNPL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New rail needs new class + wiring — not Order edits.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3931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  <a:latin typeface="Lato"/>
              </a:defRPr>
            </a:pPr>
            <a:r>
              <a:t>Reviewers will ask:</a:t>
            </a:r>
            <a:br/>
            <a:br/>
            <a:r>
              <a:t>"If we add BuyNowPayLaterPayment next sprint, what files change?"</a:t>
            </a:r>
            <a:br/>
            <a:br/>
            <a:r>
              <a:t>Best answer: one new class + composition root / demo wiring.</a:t>
            </a:r>
            <a:br/>
            <a:r>
              <a:t>Weak answer: reopen Order and add another else-if.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Concept → Capstone 2 artefact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4406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Poppins"/>
              </a:defRPr>
            </a:pPr>
            <a:r>
              <a:t>Encapsulation / getters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Lato"/>
              </a:defRPr>
            </a:pPr>
            <a:r>
              <a:t>Order owns items; unmodifiable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4406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Poppins"/>
              </a:defRPr>
            </a:pPr>
            <a:r>
              <a:t>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7568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Lato"/>
              </a:defRPr>
            </a:pPr>
            <a:r>
              <a:t>Order has items; checkout uses a PaymentMethod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06040"/>
            <a:ext cx="54406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Poppins"/>
              </a:defRPr>
            </a:pPr>
            <a:r>
              <a:t>Interface / abstraction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9008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Lato"/>
              </a:defRPr>
            </a:pPr>
            <a:r>
              <a:t>PaymentMethod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606040"/>
            <a:ext cx="54406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Poppins"/>
              </a:defRPr>
            </a:pPr>
            <a:r>
              <a:t>Polymorphism / dispatch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9008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Lato"/>
              </a:defRPr>
            </a:pPr>
            <a:r>
              <a:t>checkout(PaymentMethod) + rail overrides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40"/>
            <a:ext cx="54406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1188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Poppins"/>
              </a:defRPr>
            </a:pPr>
            <a:r>
              <a:t>DIP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0448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Lato"/>
              </a:defRPr>
            </a:pPr>
            <a:r>
              <a:t>Parameter type is the interface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520440"/>
            <a:ext cx="54406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61188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Poppins"/>
              </a:defRPr>
            </a:pPr>
            <a:r>
              <a:t>OCP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0448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Lato"/>
              </a:defRPr>
            </a:pPr>
            <a:r>
              <a:t>New rail without editing totals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34840"/>
            <a:ext cx="54406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52628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Poppins"/>
              </a:defRPr>
            </a:pPr>
            <a:r>
              <a:t>SRP / SoC / delegation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1888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Lato"/>
              </a:defRPr>
            </a:pPr>
            <a:r>
              <a:t>Order vs Processor vs Method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434840"/>
            <a:ext cx="54406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52628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Poppins"/>
              </a:defRPr>
            </a:pPr>
            <a:r>
              <a:t>DRY / business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81888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Lato"/>
              </a:defRPr>
            </a:pPr>
            <a:r>
              <a:t>calculateTotal() feeds payment amount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349240"/>
            <a:ext cx="54406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Poppins"/>
              </a:defRPr>
            </a:pPr>
            <a:r>
              <a:t>Unit + regression 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3328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Lato"/>
              </a:defRPr>
            </a:pPr>
            <a:r>
              <a:t>≥2 rails; C1 OrderTest stays green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WATCH-OUTS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Common mistakes to catch early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4406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91440" cy="11887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Type switches return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if (getPaymentType().equals("CARD")) inside checkout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4406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91440" cy="11887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Concrete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checkout(CardPayment) instead of PaymentMethod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54406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154680"/>
            <a:ext cx="91440" cy="11887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Hard-coded amount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4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Charging 12400 instead of calculateTotal()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54680"/>
            <a:ext cx="54406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154680"/>
            <a:ext cx="91440" cy="11887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33756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Mutable guts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4904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Exposing the live ArrayList of items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26280"/>
            <a:ext cx="54406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526280"/>
            <a:ext cx="91440" cy="11887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One-rail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Only CardPayment — polymorphism never proven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526280"/>
            <a:ext cx="54406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526280"/>
            <a:ext cx="91440" cy="11887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70916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oppins"/>
              </a:defRPr>
            </a:pPr>
            <a:r>
              <a:t>Docs skip the why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12064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No answer to 'what changes for a new rail?'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FACILITATION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Questions to keep asking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029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1051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What must NOT change when Ops adds a new payment rail?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5029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9631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146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Is Order's job totals — or Visa vs EFT protocols?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8960"/>
            <a:ext cx="5029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8211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Who benefits more from PaymentMethod: rail authors or checkout?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5029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6791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862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Where did the else-if go after polymorphism?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80560"/>
            <a:ext cx="5029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5371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720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What files change for BuyNowPayLaterPayment?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166360"/>
            <a:ext cx="5029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3951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2578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Why is one rail in tests not enough for the rubric?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LECTURER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Suggested file open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Walk-only — narrate existing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1. PayNestApplication.java — C1 then C2 blocks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6771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2. Order.java — totals, encapsulation, checkout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98063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3. (Scratch) anti-pattern if/else — do not commit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28415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4. PaymentMethod.java — contract reveal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5. CardPayment / EftPayment / WalletPayment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6. PaymentProcessor.java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19471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7. OrderTest.java — regression + C2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49823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Lato"/>
              </a:defRPr>
            </a:pPr>
            <a:r>
              <a:t>8. Capstone 2 brief + rubric 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 · Capstone 2 SE Lesson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oppins"/>
              </a:defRPr>
            </a:pPr>
            <a:r>
              <a:t>Interfaces exist because</a:t>
            </a:r>
            <a:br/>
            <a:r>
              <a:t>software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14B8A6"/>
                </a:solidFill>
                <a:latin typeface="Lato"/>
              </a:defRPr>
            </a:pPr>
            <a:r>
              <a:t>Capstone 2 is the design you earned by feeling the if/else pain.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4297680"/>
            <a:ext cx="7040880" cy="12801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4526280"/>
            <a:ext cx="6675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Lato"/>
              </a:defRPr>
            </a:pPr>
            <a:r>
              <a:t>Homework brief:</a:t>
            </a:r>
            <a:br/>
            <a:r>
              <a:t>docs/assessments/capstone-02-payment-methods.md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